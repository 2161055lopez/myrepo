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4"/>
  </p:sldMasterIdLst>
  <p:notesMasterIdLst>
    <p:notesMasterId r:id="rId19"/>
  </p:notesMasterIdLst>
  <p:handoutMasterIdLst>
    <p:handoutMasterId r:id="rId20"/>
  </p:handoutMasterIdLst>
  <p:sldIdLst>
    <p:sldId id="330" r:id="rId5"/>
    <p:sldId id="344" r:id="rId6"/>
    <p:sldId id="347" r:id="rId7"/>
    <p:sldId id="380" r:id="rId8"/>
    <p:sldId id="383" r:id="rId9"/>
    <p:sldId id="382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</p:sldIdLst>
  <p:sldSz cx="9144000" cy="5143500" type="screen16x9"/>
  <p:notesSz cx="7023100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285362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2666253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047146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E99558"/>
    <a:srgbClr val="E99595"/>
    <a:srgbClr val="FFCC66"/>
    <a:srgbClr val="9999FF"/>
    <a:srgbClr val="CC9900"/>
    <a:srgbClr val="FFFF99"/>
    <a:srgbClr val="99FF99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0" autoAdjust="0"/>
    <p:restoredTop sz="73252" autoAdjust="0"/>
  </p:normalViewPr>
  <p:slideViewPr>
    <p:cSldViewPr snapToGrid="0">
      <p:cViewPr>
        <p:scale>
          <a:sx n="66" d="100"/>
          <a:sy n="66" d="100"/>
        </p:scale>
        <p:origin x="-1428" y="-732"/>
      </p:cViewPr>
      <p:guideLst>
        <p:guide orient="horz" pos="1620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-3264" y="-96"/>
      </p:cViewPr>
      <p:guideLst>
        <p:guide orient="horz" pos="2932"/>
        <p:guide pos="221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DB70C4-EFAD-440B-8469-71EB7518DFEB}" type="doc">
      <dgm:prSet loTypeId="urn:microsoft.com/office/officeart/2005/8/layout/radial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E300CF-B782-450B-8348-B5DC0B02E2B2}">
      <dgm:prSet phldrT="[Text]" custT="1"/>
      <dgm:spPr/>
      <dgm:t>
        <a:bodyPr/>
        <a:lstStyle/>
        <a:p>
          <a:endParaRPr lang="en-US" sz="1100" dirty="0"/>
        </a:p>
      </dgm:t>
    </dgm:pt>
    <dgm:pt modelId="{9040F0E7-B1C4-4868-BA16-908E9791CEA6}" type="parTrans" cxnId="{A766A60D-A146-4A56-9FE3-64798EFA0DCE}">
      <dgm:prSet/>
      <dgm:spPr/>
      <dgm:t>
        <a:bodyPr/>
        <a:lstStyle/>
        <a:p>
          <a:endParaRPr lang="en-US"/>
        </a:p>
      </dgm:t>
    </dgm:pt>
    <dgm:pt modelId="{1172926F-91DF-46D2-8A25-68D5AEE87A5F}" type="sibTrans" cxnId="{A766A60D-A146-4A56-9FE3-64798EFA0DCE}">
      <dgm:prSet/>
      <dgm:spPr/>
      <dgm:t>
        <a:bodyPr/>
        <a:lstStyle/>
        <a:p>
          <a:endParaRPr lang="en-US"/>
        </a:p>
      </dgm:t>
    </dgm:pt>
    <dgm:pt modelId="{9F15BB0D-6182-472B-8525-988FBE12996C}">
      <dgm:prSet phldrT="[Text]"/>
      <dgm:spPr/>
      <dgm:t>
        <a:bodyPr/>
        <a:lstStyle/>
        <a:p>
          <a:endParaRPr lang="en-US" dirty="0"/>
        </a:p>
      </dgm:t>
    </dgm:pt>
    <dgm:pt modelId="{FAF43E5E-D073-4B3B-985A-DC0FD7127D45}" type="parTrans" cxnId="{63272C87-9A48-4C3E-B4D3-2AA8A51232E3}">
      <dgm:prSet/>
      <dgm:spPr/>
      <dgm:t>
        <a:bodyPr/>
        <a:lstStyle/>
        <a:p>
          <a:endParaRPr lang="en-US"/>
        </a:p>
      </dgm:t>
    </dgm:pt>
    <dgm:pt modelId="{9ED52DAD-A579-44D6-94D3-9919A5F711D4}" type="sibTrans" cxnId="{63272C87-9A48-4C3E-B4D3-2AA8A51232E3}">
      <dgm:prSet/>
      <dgm:spPr/>
      <dgm:t>
        <a:bodyPr/>
        <a:lstStyle/>
        <a:p>
          <a:endParaRPr lang="en-US"/>
        </a:p>
      </dgm:t>
    </dgm:pt>
    <dgm:pt modelId="{0D659938-5192-485D-8FC2-1E660D8A66E9}">
      <dgm:prSet phldrT="[Text]"/>
      <dgm:spPr/>
      <dgm:t>
        <a:bodyPr/>
        <a:lstStyle/>
        <a:p>
          <a:endParaRPr lang="en-US" dirty="0"/>
        </a:p>
      </dgm:t>
    </dgm:pt>
    <dgm:pt modelId="{07BFC2A2-C797-4D5E-83DE-93013E1C6A60}" type="parTrans" cxnId="{A8D4293E-4A26-49AD-AD23-20A37010E9B6}">
      <dgm:prSet/>
      <dgm:spPr/>
      <dgm:t>
        <a:bodyPr/>
        <a:lstStyle/>
        <a:p>
          <a:endParaRPr lang="en-US"/>
        </a:p>
      </dgm:t>
    </dgm:pt>
    <dgm:pt modelId="{EEE4DA48-2556-4A6D-BA56-1116E56C9276}" type="sibTrans" cxnId="{A8D4293E-4A26-49AD-AD23-20A37010E9B6}">
      <dgm:prSet/>
      <dgm:spPr/>
      <dgm:t>
        <a:bodyPr/>
        <a:lstStyle/>
        <a:p>
          <a:endParaRPr lang="en-US"/>
        </a:p>
      </dgm:t>
    </dgm:pt>
    <dgm:pt modelId="{248230B6-81A5-4D97-BA64-5AFF8A60B11C}">
      <dgm:prSet phldrT="[Text]"/>
      <dgm:spPr/>
      <dgm:t>
        <a:bodyPr/>
        <a:lstStyle/>
        <a:p>
          <a:endParaRPr lang="en-US" dirty="0"/>
        </a:p>
      </dgm:t>
    </dgm:pt>
    <dgm:pt modelId="{99B5A338-0F12-462B-8BE1-3BA9747409BD}" type="parTrans" cxnId="{7151752D-E7CC-44C1-BB64-8A2D0A05CE45}">
      <dgm:prSet/>
      <dgm:spPr/>
      <dgm:t>
        <a:bodyPr/>
        <a:lstStyle/>
        <a:p>
          <a:endParaRPr lang="en-US"/>
        </a:p>
      </dgm:t>
    </dgm:pt>
    <dgm:pt modelId="{BDBAF648-9D53-470C-8B93-F85FA97B7C75}" type="sibTrans" cxnId="{7151752D-E7CC-44C1-BB64-8A2D0A05CE45}">
      <dgm:prSet/>
      <dgm:spPr/>
      <dgm:t>
        <a:bodyPr/>
        <a:lstStyle/>
        <a:p>
          <a:endParaRPr lang="en-US"/>
        </a:p>
      </dgm:t>
    </dgm:pt>
    <dgm:pt modelId="{2B7F3DB4-3AEB-4DC5-B8D5-57FE1E487FB0}" type="pres">
      <dgm:prSet presAssocID="{64DB70C4-EFAD-440B-8469-71EB7518DFEB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D2D1F0B-C0EB-4961-B2B3-E08F060C7B51}" type="pres">
      <dgm:prSet presAssocID="{A0E300CF-B782-450B-8348-B5DC0B02E2B2}" presName="centerShape" presStyleLbl="node0" presStyleIdx="0" presStyleCnt="1" custScaleX="138646" custScaleY="138646"/>
      <dgm:spPr/>
      <dgm:t>
        <a:bodyPr/>
        <a:lstStyle/>
        <a:p>
          <a:endParaRPr lang="en-US"/>
        </a:p>
      </dgm:t>
    </dgm:pt>
    <dgm:pt modelId="{97DAB813-7C31-492D-B6A7-76EBA07BDF84}" type="pres">
      <dgm:prSet presAssocID="{0D659938-5192-485D-8FC2-1E660D8A66E9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140019-9657-4B28-8BFA-764CCE5C5A7B}" type="pres">
      <dgm:prSet presAssocID="{0D659938-5192-485D-8FC2-1E660D8A66E9}" presName="dummy" presStyleCnt="0"/>
      <dgm:spPr/>
    </dgm:pt>
    <dgm:pt modelId="{F799CA4A-54C2-437D-9344-96D4341DACCA}" type="pres">
      <dgm:prSet presAssocID="{EEE4DA48-2556-4A6D-BA56-1116E56C9276}" presName="sibTrans" presStyleLbl="sibTrans2D1" presStyleIdx="0" presStyleCnt="3"/>
      <dgm:spPr/>
      <dgm:t>
        <a:bodyPr/>
        <a:lstStyle/>
        <a:p>
          <a:endParaRPr lang="en-US"/>
        </a:p>
      </dgm:t>
    </dgm:pt>
    <dgm:pt modelId="{609D00A2-11A6-4F08-A988-B53B857B8327}" type="pres">
      <dgm:prSet presAssocID="{248230B6-81A5-4D97-BA64-5AFF8A60B11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36D0CD-D9F7-4EDF-B78B-94EB9051258E}" type="pres">
      <dgm:prSet presAssocID="{248230B6-81A5-4D97-BA64-5AFF8A60B11C}" presName="dummy" presStyleCnt="0"/>
      <dgm:spPr/>
    </dgm:pt>
    <dgm:pt modelId="{11A3038C-78FB-4039-AC78-F78FFC43292E}" type="pres">
      <dgm:prSet presAssocID="{BDBAF648-9D53-470C-8B93-F85FA97B7C75}" presName="sibTrans" presStyleLbl="sibTrans2D1" presStyleIdx="1" presStyleCnt="3"/>
      <dgm:spPr/>
      <dgm:t>
        <a:bodyPr/>
        <a:lstStyle/>
        <a:p>
          <a:endParaRPr lang="en-US"/>
        </a:p>
      </dgm:t>
    </dgm:pt>
    <dgm:pt modelId="{E82D6FF2-BAFC-49E4-9EA7-95F6067FD9F3}" type="pres">
      <dgm:prSet presAssocID="{9F15BB0D-6182-472B-8525-988FBE12996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E31CF4-B31B-4C8C-A64F-4E09F5635DFF}" type="pres">
      <dgm:prSet presAssocID="{9F15BB0D-6182-472B-8525-988FBE12996C}" presName="dummy" presStyleCnt="0"/>
      <dgm:spPr/>
    </dgm:pt>
    <dgm:pt modelId="{4B2C95A7-19B0-4245-997B-AA0A44ACE402}" type="pres">
      <dgm:prSet presAssocID="{9ED52DAD-A579-44D6-94D3-9919A5F711D4}" presName="sibTrans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C1FABB3A-5644-4F6A-A14E-3FB64668EF4F}" type="presOf" srcId="{64DB70C4-EFAD-440B-8469-71EB7518DFEB}" destId="{2B7F3DB4-3AEB-4DC5-B8D5-57FE1E487FB0}" srcOrd="0" destOrd="0" presId="urn:microsoft.com/office/officeart/2005/8/layout/radial6"/>
    <dgm:cxn modelId="{A766A60D-A146-4A56-9FE3-64798EFA0DCE}" srcId="{64DB70C4-EFAD-440B-8469-71EB7518DFEB}" destId="{A0E300CF-B782-450B-8348-B5DC0B02E2B2}" srcOrd="0" destOrd="0" parTransId="{9040F0E7-B1C4-4868-BA16-908E9791CEA6}" sibTransId="{1172926F-91DF-46D2-8A25-68D5AEE87A5F}"/>
    <dgm:cxn modelId="{A8D4293E-4A26-49AD-AD23-20A37010E9B6}" srcId="{A0E300CF-B782-450B-8348-B5DC0B02E2B2}" destId="{0D659938-5192-485D-8FC2-1E660D8A66E9}" srcOrd="0" destOrd="0" parTransId="{07BFC2A2-C797-4D5E-83DE-93013E1C6A60}" sibTransId="{EEE4DA48-2556-4A6D-BA56-1116E56C9276}"/>
    <dgm:cxn modelId="{4FD50DC1-00F5-4604-A1E1-DFD286FFAB36}" type="presOf" srcId="{9F15BB0D-6182-472B-8525-988FBE12996C}" destId="{E82D6FF2-BAFC-49E4-9EA7-95F6067FD9F3}" srcOrd="0" destOrd="0" presId="urn:microsoft.com/office/officeart/2005/8/layout/radial6"/>
    <dgm:cxn modelId="{A77A350C-3A42-4CDB-A9B8-52E9E3AFD768}" type="presOf" srcId="{9ED52DAD-A579-44D6-94D3-9919A5F711D4}" destId="{4B2C95A7-19B0-4245-997B-AA0A44ACE402}" srcOrd="0" destOrd="0" presId="urn:microsoft.com/office/officeart/2005/8/layout/radial6"/>
    <dgm:cxn modelId="{7151752D-E7CC-44C1-BB64-8A2D0A05CE45}" srcId="{A0E300CF-B782-450B-8348-B5DC0B02E2B2}" destId="{248230B6-81A5-4D97-BA64-5AFF8A60B11C}" srcOrd="1" destOrd="0" parTransId="{99B5A338-0F12-462B-8BE1-3BA9747409BD}" sibTransId="{BDBAF648-9D53-470C-8B93-F85FA97B7C75}"/>
    <dgm:cxn modelId="{E257C5B6-C832-4A29-B3E5-51C88BC37BC0}" type="presOf" srcId="{248230B6-81A5-4D97-BA64-5AFF8A60B11C}" destId="{609D00A2-11A6-4F08-A988-B53B857B8327}" srcOrd="0" destOrd="0" presId="urn:microsoft.com/office/officeart/2005/8/layout/radial6"/>
    <dgm:cxn modelId="{E27B7EF4-659E-4FF2-91F0-F53361D26EBD}" type="presOf" srcId="{A0E300CF-B782-450B-8348-B5DC0B02E2B2}" destId="{7D2D1F0B-C0EB-4961-B2B3-E08F060C7B51}" srcOrd="0" destOrd="0" presId="urn:microsoft.com/office/officeart/2005/8/layout/radial6"/>
    <dgm:cxn modelId="{63272C87-9A48-4C3E-B4D3-2AA8A51232E3}" srcId="{A0E300CF-B782-450B-8348-B5DC0B02E2B2}" destId="{9F15BB0D-6182-472B-8525-988FBE12996C}" srcOrd="2" destOrd="0" parTransId="{FAF43E5E-D073-4B3B-985A-DC0FD7127D45}" sibTransId="{9ED52DAD-A579-44D6-94D3-9919A5F711D4}"/>
    <dgm:cxn modelId="{E7BB3BCE-4829-4967-BA9D-FCF59A43BC75}" type="presOf" srcId="{EEE4DA48-2556-4A6D-BA56-1116E56C9276}" destId="{F799CA4A-54C2-437D-9344-96D4341DACCA}" srcOrd="0" destOrd="0" presId="urn:microsoft.com/office/officeart/2005/8/layout/radial6"/>
    <dgm:cxn modelId="{3A1E7CE4-BF22-4760-AF21-A9542374C5A2}" type="presOf" srcId="{0D659938-5192-485D-8FC2-1E660D8A66E9}" destId="{97DAB813-7C31-492D-B6A7-76EBA07BDF84}" srcOrd="0" destOrd="0" presId="urn:microsoft.com/office/officeart/2005/8/layout/radial6"/>
    <dgm:cxn modelId="{2DA1306C-74C2-47BD-B7AF-64F55B15F088}" type="presOf" srcId="{BDBAF648-9D53-470C-8B93-F85FA97B7C75}" destId="{11A3038C-78FB-4039-AC78-F78FFC43292E}" srcOrd="0" destOrd="0" presId="urn:microsoft.com/office/officeart/2005/8/layout/radial6"/>
    <dgm:cxn modelId="{3F18CD0B-9293-4A9C-AE53-0839E6147E0F}" type="presParOf" srcId="{2B7F3DB4-3AEB-4DC5-B8D5-57FE1E487FB0}" destId="{7D2D1F0B-C0EB-4961-B2B3-E08F060C7B51}" srcOrd="0" destOrd="0" presId="urn:microsoft.com/office/officeart/2005/8/layout/radial6"/>
    <dgm:cxn modelId="{3D0D7A05-2A4B-483C-9A9E-7A0D69D3C3FA}" type="presParOf" srcId="{2B7F3DB4-3AEB-4DC5-B8D5-57FE1E487FB0}" destId="{97DAB813-7C31-492D-B6A7-76EBA07BDF84}" srcOrd="1" destOrd="0" presId="urn:microsoft.com/office/officeart/2005/8/layout/radial6"/>
    <dgm:cxn modelId="{FD952E96-EE6F-4246-BD4B-552E58DC09D8}" type="presParOf" srcId="{2B7F3DB4-3AEB-4DC5-B8D5-57FE1E487FB0}" destId="{C2140019-9657-4B28-8BFA-764CCE5C5A7B}" srcOrd="2" destOrd="0" presId="urn:microsoft.com/office/officeart/2005/8/layout/radial6"/>
    <dgm:cxn modelId="{9E686755-5371-44DC-8105-2F8430C74372}" type="presParOf" srcId="{2B7F3DB4-3AEB-4DC5-B8D5-57FE1E487FB0}" destId="{F799CA4A-54C2-437D-9344-96D4341DACCA}" srcOrd="3" destOrd="0" presId="urn:microsoft.com/office/officeart/2005/8/layout/radial6"/>
    <dgm:cxn modelId="{71A68622-4AB8-4847-AE03-3A0C12275687}" type="presParOf" srcId="{2B7F3DB4-3AEB-4DC5-B8D5-57FE1E487FB0}" destId="{609D00A2-11A6-4F08-A988-B53B857B8327}" srcOrd="4" destOrd="0" presId="urn:microsoft.com/office/officeart/2005/8/layout/radial6"/>
    <dgm:cxn modelId="{11880CB7-B664-4350-A86B-FB56E2A81461}" type="presParOf" srcId="{2B7F3DB4-3AEB-4DC5-B8D5-57FE1E487FB0}" destId="{7636D0CD-D9F7-4EDF-B78B-94EB9051258E}" srcOrd="5" destOrd="0" presId="urn:microsoft.com/office/officeart/2005/8/layout/radial6"/>
    <dgm:cxn modelId="{64ACACAE-BE57-41FC-AC6A-F0CF3168B898}" type="presParOf" srcId="{2B7F3DB4-3AEB-4DC5-B8D5-57FE1E487FB0}" destId="{11A3038C-78FB-4039-AC78-F78FFC43292E}" srcOrd="6" destOrd="0" presId="urn:microsoft.com/office/officeart/2005/8/layout/radial6"/>
    <dgm:cxn modelId="{77B2BC7E-8FA3-4194-AD72-AEE58C75D8F6}" type="presParOf" srcId="{2B7F3DB4-3AEB-4DC5-B8D5-57FE1E487FB0}" destId="{E82D6FF2-BAFC-49E4-9EA7-95F6067FD9F3}" srcOrd="7" destOrd="0" presId="urn:microsoft.com/office/officeart/2005/8/layout/radial6"/>
    <dgm:cxn modelId="{D874CD26-0DEC-4B04-BE7F-3C68F09CC5A8}" type="presParOf" srcId="{2B7F3DB4-3AEB-4DC5-B8D5-57FE1E487FB0}" destId="{D1E31CF4-B31B-4C8C-A64F-4E09F5635DFF}" srcOrd="8" destOrd="0" presId="urn:microsoft.com/office/officeart/2005/8/layout/radial6"/>
    <dgm:cxn modelId="{9380CB38-68A3-4D84-86C3-471CA0DC412B}" type="presParOf" srcId="{2B7F3DB4-3AEB-4DC5-B8D5-57FE1E487FB0}" destId="{4B2C95A7-19B0-4245-997B-AA0A44ACE402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E05DC8-4AA9-4B0E-8BE8-DF07E106AD25}" type="doc">
      <dgm:prSet loTypeId="urn:microsoft.com/office/officeart/2005/8/layout/venn3" loCatId="relationship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7E9848-D170-4E0A-8DA5-FF59DD55E85B}">
      <dgm:prSet phldrT="[Text]" custT="1"/>
      <dgm:spPr/>
      <dgm:t>
        <a:bodyPr/>
        <a:lstStyle/>
        <a:p>
          <a:r>
            <a:rPr lang="en-US" sz="1700" kern="12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  <a:ea typeface="+mn-ea"/>
              <a:cs typeface="+mn-cs"/>
            </a:rPr>
            <a:t>MODEL</a:t>
          </a:r>
          <a:endParaRPr lang="en-US" sz="1700" kern="1200" dirty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  <a:latin typeface="+mn-lt"/>
            <a:ea typeface="+mn-ea"/>
            <a:cs typeface="+mn-cs"/>
          </a:endParaRPr>
        </a:p>
      </dgm:t>
    </dgm:pt>
    <dgm:pt modelId="{862A2BD8-A654-4E07-9C46-780370C40F6D}" type="parTrans" cxnId="{015DF10A-BAEE-48D5-8A1F-477A3F083C7F}">
      <dgm:prSet/>
      <dgm:spPr/>
      <dgm:t>
        <a:bodyPr/>
        <a:lstStyle/>
        <a:p>
          <a:endParaRPr lang="en-US"/>
        </a:p>
      </dgm:t>
    </dgm:pt>
    <dgm:pt modelId="{480C99EF-F164-4B2F-AE1E-A86713D1B6BE}" type="sibTrans" cxnId="{015DF10A-BAEE-48D5-8A1F-477A3F083C7F}">
      <dgm:prSet/>
      <dgm:spPr/>
      <dgm:t>
        <a:bodyPr/>
        <a:lstStyle/>
        <a:p>
          <a:endParaRPr lang="en-US"/>
        </a:p>
      </dgm:t>
    </dgm:pt>
    <dgm:pt modelId="{537485DB-683B-494F-A506-F63121F6E5B4}">
      <dgm:prSet phldrT="[Text]" custT="1"/>
      <dgm:spPr/>
      <dgm:t>
        <a:bodyPr/>
        <a:lstStyle/>
        <a:p>
          <a:r>
            <a:rPr lang="en-US" sz="1700" kern="12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  <a:ea typeface="+mn-ea"/>
              <a:cs typeface="+mn-cs"/>
            </a:rPr>
            <a:t>VIEW</a:t>
          </a:r>
          <a:endParaRPr lang="en-US" sz="1700" kern="1200" dirty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  <a:latin typeface="+mn-lt"/>
            <a:ea typeface="+mn-ea"/>
            <a:cs typeface="+mn-cs"/>
          </a:endParaRPr>
        </a:p>
      </dgm:t>
    </dgm:pt>
    <dgm:pt modelId="{51F550F6-870F-4DFE-8B4E-DE9B767E9571}" type="parTrans" cxnId="{21032C19-6D34-4AFC-8A59-EE2FB340771D}">
      <dgm:prSet/>
      <dgm:spPr/>
      <dgm:t>
        <a:bodyPr/>
        <a:lstStyle/>
        <a:p>
          <a:endParaRPr lang="en-US"/>
        </a:p>
      </dgm:t>
    </dgm:pt>
    <dgm:pt modelId="{ABFBB28A-5C98-4906-8B6D-E4AB4AC7501F}" type="sibTrans" cxnId="{21032C19-6D34-4AFC-8A59-EE2FB340771D}">
      <dgm:prSet/>
      <dgm:spPr/>
      <dgm:t>
        <a:bodyPr/>
        <a:lstStyle/>
        <a:p>
          <a:endParaRPr lang="en-US"/>
        </a:p>
      </dgm:t>
    </dgm:pt>
    <dgm:pt modelId="{68EDCA6D-A12A-465D-A863-294088AB4E70}" type="pres">
      <dgm:prSet presAssocID="{95E05DC8-4AA9-4B0E-8BE8-DF07E106AD25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17D35B5-8730-42BD-9C15-3EF64CBB86B6}" type="pres">
      <dgm:prSet presAssocID="{387E9848-D170-4E0A-8DA5-FF59DD55E85B}" presName="Name5" presStyleLbl="venn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792EBD-DD21-4D1D-A554-B76CA288A317}" type="pres">
      <dgm:prSet presAssocID="{480C99EF-F164-4B2F-AE1E-A86713D1B6BE}" presName="space" presStyleCnt="0"/>
      <dgm:spPr/>
    </dgm:pt>
    <dgm:pt modelId="{741E2DAC-ACAC-4C15-A879-8C41C98648B3}" type="pres">
      <dgm:prSet presAssocID="{537485DB-683B-494F-A506-F63121F6E5B4}" presName="Name5" presStyleLbl="venn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4879E57-5A6A-4125-BB3D-16A72FD5B69D}" type="presOf" srcId="{95E05DC8-4AA9-4B0E-8BE8-DF07E106AD25}" destId="{68EDCA6D-A12A-465D-A863-294088AB4E70}" srcOrd="0" destOrd="0" presId="urn:microsoft.com/office/officeart/2005/8/layout/venn3"/>
    <dgm:cxn modelId="{41E7E410-46D9-4025-83A1-999A7207E187}" type="presOf" srcId="{537485DB-683B-494F-A506-F63121F6E5B4}" destId="{741E2DAC-ACAC-4C15-A879-8C41C98648B3}" srcOrd="0" destOrd="0" presId="urn:microsoft.com/office/officeart/2005/8/layout/venn3"/>
    <dgm:cxn modelId="{20FDE925-56DB-46D6-95B2-64D4E76330D7}" type="presOf" srcId="{387E9848-D170-4E0A-8DA5-FF59DD55E85B}" destId="{517D35B5-8730-42BD-9C15-3EF64CBB86B6}" srcOrd="0" destOrd="0" presId="urn:microsoft.com/office/officeart/2005/8/layout/venn3"/>
    <dgm:cxn modelId="{21032C19-6D34-4AFC-8A59-EE2FB340771D}" srcId="{95E05DC8-4AA9-4B0E-8BE8-DF07E106AD25}" destId="{537485DB-683B-494F-A506-F63121F6E5B4}" srcOrd="1" destOrd="0" parTransId="{51F550F6-870F-4DFE-8B4E-DE9B767E9571}" sibTransId="{ABFBB28A-5C98-4906-8B6D-E4AB4AC7501F}"/>
    <dgm:cxn modelId="{015DF10A-BAEE-48D5-8A1F-477A3F083C7F}" srcId="{95E05DC8-4AA9-4B0E-8BE8-DF07E106AD25}" destId="{387E9848-D170-4E0A-8DA5-FF59DD55E85B}" srcOrd="0" destOrd="0" parTransId="{862A2BD8-A654-4E07-9C46-780370C40F6D}" sibTransId="{480C99EF-F164-4B2F-AE1E-A86713D1B6BE}"/>
    <dgm:cxn modelId="{872CAD4A-E6BE-4999-B358-90E1F6A3E12C}" type="presParOf" srcId="{68EDCA6D-A12A-465D-A863-294088AB4E70}" destId="{517D35B5-8730-42BD-9C15-3EF64CBB86B6}" srcOrd="0" destOrd="0" presId="urn:microsoft.com/office/officeart/2005/8/layout/venn3"/>
    <dgm:cxn modelId="{B9C3D1DE-BF5C-47E7-AFC8-383D1EFAEBDB}" type="presParOf" srcId="{68EDCA6D-A12A-465D-A863-294088AB4E70}" destId="{8C792EBD-DD21-4D1D-A554-B76CA288A317}" srcOrd="1" destOrd="0" presId="urn:microsoft.com/office/officeart/2005/8/layout/venn3"/>
    <dgm:cxn modelId="{2E4C899C-51F1-4963-8035-BCE2E5D03E72}" type="presParOf" srcId="{68EDCA6D-A12A-465D-A863-294088AB4E70}" destId="{741E2DAC-ACAC-4C15-A879-8C41C98648B3}" srcOrd="2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2C95A7-19B0-4245-997B-AA0A44ACE402}">
      <dsp:nvSpPr>
        <dsp:cNvPr id="0" name=""/>
        <dsp:cNvSpPr/>
      </dsp:nvSpPr>
      <dsp:spPr>
        <a:xfrm>
          <a:off x="594178" y="175457"/>
          <a:ext cx="1173842" cy="1173842"/>
        </a:xfrm>
        <a:prstGeom prst="blockArc">
          <a:avLst>
            <a:gd name="adj1" fmla="val 9000000"/>
            <a:gd name="adj2" fmla="val 16200000"/>
            <a:gd name="adj3" fmla="val 463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3038C-78FB-4039-AC78-F78FFC43292E}">
      <dsp:nvSpPr>
        <dsp:cNvPr id="0" name=""/>
        <dsp:cNvSpPr/>
      </dsp:nvSpPr>
      <dsp:spPr>
        <a:xfrm>
          <a:off x="594178" y="175457"/>
          <a:ext cx="1173842" cy="1173842"/>
        </a:xfrm>
        <a:prstGeom prst="blockArc">
          <a:avLst>
            <a:gd name="adj1" fmla="val 1800000"/>
            <a:gd name="adj2" fmla="val 9000000"/>
            <a:gd name="adj3" fmla="val 463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9CA4A-54C2-437D-9344-96D4341DACCA}">
      <dsp:nvSpPr>
        <dsp:cNvPr id="0" name=""/>
        <dsp:cNvSpPr/>
      </dsp:nvSpPr>
      <dsp:spPr>
        <a:xfrm>
          <a:off x="594178" y="175457"/>
          <a:ext cx="1173842" cy="1173842"/>
        </a:xfrm>
        <a:prstGeom prst="blockArc">
          <a:avLst>
            <a:gd name="adj1" fmla="val 16200000"/>
            <a:gd name="adj2" fmla="val 1800000"/>
            <a:gd name="adj3" fmla="val 463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2D1F0B-C0EB-4961-B2B3-E08F060C7B51}">
      <dsp:nvSpPr>
        <dsp:cNvPr id="0" name=""/>
        <dsp:cNvSpPr/>
      </dsp:nvSpPr>
      <dsp:spPr>
        <a:xfrm>
          <a:off x="806894" y="388173"/>
          <a:ext cx="748410" cy="7484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 dirty="0"/>
        </a:p>
      </dsp:txBody>
      <dsp:txXfrm>
        <a:off x="916496" y="497775"/>
        <a:ext cx="529206" cy="529206"/>
      </dsp:txXfrm>
    </dsp:sp>
    <dsp:sp modelId="{97DAB813-7C31-492D-B6A7-76EBA07BDF84}">
      <dsp:nvSpPr>
        <dsp:cNvPr id="0" name=""/>
        <dsp:cNvSpPr/>
      </dsp:nvSpPr>
      <dsp:spPr>
        <a:xfrm>
          <a:off x="992170" y="130"/>
          <a:ext cx="377859" cy="3778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 dirty="0"/>
        </a:p>
      </dsp:txBody>
      <dsp:txXfrm>
        <a:off x="1047506" y="55466"/>
        <a:ext cx="267187" cy="267187"/>
      </dsp:txXfrm>
    </dsp:sp>
    <dsp:sp modelId="{609D00A2-11A6-4F08-A988-B53B857B8327}">
      <dsp:nvSpPr>
        <dsp:cNvPr id="0" name=""/>
        <dsp:cNvSpPr/>
      </dsp:nvSpPr>
      <dsp:spPr>
        <a:xfrm>
          <a:off x="1488678" y="860107"/>
          <a:ext cx="377859" cy="3778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 dirty="0"/>
        </a:p>
      </dsp:txBody>
      <dsp:txXfrm>
        <a:off x="1544014" y="915443"/>
        <a:ext cx="267187" cy="267187"/>
      </dsp:txXfrm>
    </dsp:sp>
    <dsp:sp modelId="{E82D6FF2-BAFC-49E4-9EA7-95F6067FD9F3}">
      <dsp:nvSpPr>
        <dsp:cNvPr id="0" name=""/>
        <dsp:cNvSpPr/>
      </dsp:nvSpPr>
      <dsp:spPr>
        <a:xfrm>
          <a:off x="495662" y="860107"/>
          <a:ext cx="377859" cy="3778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 dirty="0"/>
        </a:p>
      </dsp:txBody>
      <dsp:txXfrm>
        <a:off x="550998" y="915443"/>
        <a:ext cx="267187" cy="2671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7D35B5-8730-42BD-9C15-3EF64CBB86B6}">
      <dsp:nvSpPr>
        <dsp:cNvPr id="0" name=""/>
        <dsp:cNvSpPr/>
      </dsp:nvSpPr>
      <dsp:spPr>
        <a:xfrm>
          <a:off x="1900" y="49118"/>
          <a:ext cx="1349562" cy="134956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74271" tIns="21590" rIns="74271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  <a:ea typeface="+mn-ea"/>
              <a:cs typeface="+mn-cs"/>
            </a:rPr>
            <a:t>MODEL</a:t>
          </a:r>
          <a:endParaRPr lang="en-US" sz="1700" kern="1200" dirty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  <a:latin typeface="+mn-lt"/>
            <a:ea typeface="+mn-ea"/>
            <a:cs typeface="+mn-cs"/>
          </a:endParaRPr>
        </a:p>
      </dsp:txBody>
      <dsp:txXfrm>
        <a:off x="199539" y="246757"/>
        <a:ext cx="954284" cy="954284"/>
      </dsp:txXfrm>
    </dsp:sp>
    <dsp:sp modelId="{741E2DAC-ACAC-4C15-A879-8C41C98648B3}">
      <dsp:nvSpPr>
        <dsp:cNvPr id="0" name=""/>
        <dsp:cNvSpPr/>
      </dsp:nvSpPr>
      <dsp:spPr>
        <a:xfrm>
          <a:off x="1081550" y="49118"/>
          <a:ext cx="1349562" cy="134956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74271" tIns="21590" rIns="74271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  <a:ea typeface="+mn-ea"/>
              <a:cs typeface="+mn-cs"/>
            </a:rPr>
            <a:t>VIEW</a:t>
          </a:r>
          <a:endParaRPr lang="en-US" sz="1700" kern="1200" dirty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  <a:latin typeface="+mn-lt"/>
            <a:ea typeface="+mn-ea"/>
            <a:cs typeface="+mn-cs"/>
          </a:endParaRPr>
        </a:p>
      </dsp:txBody>
      <dsp:txXfrm>
        <a:off x="1279189" y="246757"/>
        <a:ext cx="954284" cy="9542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42969" cy="464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4" rIns="92429" bIns="46214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8525" y="1"/>
            <a:ext cx="3042968" cy="464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4" rIns="92429" bIns="46214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2684"/>
            <a:ext cx="3042969" cy="464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4" rIns="92429" bIns="46214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8525" y="8842684"/>
            <a:ext cx="3042968" cy="464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4" rIns="92429" bIns="46214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D56EAE8-38CB-4EE5-8A34-F5F49B68F2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0079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42969" cy="464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4" rIns="92429" bIns="46214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8525" y="1"/>
            <a:ext cx="3042968" cy="464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4" rIns="92429" bIns="46214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8500"/>
            <a:ext cx="6207125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2472" y="4422145"/>
            <a:ext cx="5618157" cy="4188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4" rIns="92429" bIns="462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18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2684"/>
            <a:ext cx="3042969" cy="464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4" rIns="92429" bIns="46214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8525" y="8842684"/>
            <a:ext cx="3042968" cy="464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29" tIns="46214" rIns="92429" bIns="46214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ED2394B-E06C-4DC9-BCC2-551C3DED9A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0354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285362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666253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047146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2882A8-505A-4B1A-A81A-4EF28D193D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1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2882A8-505A-4B1A-A81A-4EF28D193D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1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1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Core Container: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 Core Container consists of the Core, Beans, Context, and Expression Language modules whose detail is as follows: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Core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the fundamental parts of the framework, including the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IoC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and Dependency Injection features.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Bean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BeanFactory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which is a sophisticated implementation of the factory pattern.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Context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builds on the solid base provided by the Core and Beans modules and it is a medium to access any objects defined and configured. The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ApplicationContext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interface is the focal point of the Context module.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SpEL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a powerful expression language for querying and manipulating an object graph at runtime.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US" sz="1000" b="1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Data Access/Integration: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 Data Access/Integration layer consists of the JDBC, ORM, OXM, JMS and Transaction modules whose detail is as follows: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JDBC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a JDBC-abstraction layer that removes the need to do tedious JDBC related coding.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ORM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integration layers for popular object-relational mapping APIs, including JPA, JDO, Hibernate, and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iBatis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OXM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an abstraction layer that supports Object/XML mapping implementations for JAXB, Castor,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XMLBeans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,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JiBX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and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XStream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 Java Messaging Service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JMS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contains features for producing and consuming messages.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Transaction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supports programmatic and declarative transaction management for classes that implement special interfaces and for all your POJOs.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US" sz="1000" b="1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The Web layer consists of the Web, Web-MVC, Web-Socket, and Web-Portlet modules whose detail is as follows: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basic web-oriented integration features such as multipart file-upload functionality and the initialization of the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IoC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container using servlet listeners and a web-oriented application context.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Web-MVC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contains Spring's model-view-controller (MVC) implementation for web applications.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Web-Socket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support for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WebSocket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-based, two-way communication between client and server in web applications.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Web-Portlet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the MVC implementation to be used in a portlet environment and mirrors the functionality of Web-Servlet module.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US" sz="1000" b="1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Miscellaneous: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There are few other important modules like AOP, Aspects, Instrumentation, Web and Test modules whose detail is as follows: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AOP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aspect-oriented programming implementation allowing you to define method-interceptors and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pointcuts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to cleanly decouple code that implements functionality that should be separated.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Aspects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integration with AspectJ which is again a powerful and mature aspect oriented programming (AOP) framework.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Instrumentation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class instrumentation support and class loader implementations to be used in certain application servers.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Messaging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support for STOMP as the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WebSocket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sub-protocol to use in applications. It also supports an annotation programming model for routing and processing STOMP messages from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WebSocket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clients.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Test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supports the testing of Spring components with JUnit or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TestNG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frameworks.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2882A8-505A-4B1A-A81A-4EF28D193D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1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1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Core Container: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 Core Container consists of the Core, Beans, Context, and Expression Language modules whose detail is as follows: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Core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the fundamental parts of the framework, including the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IoC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and Dependency Injection features.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Bean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BeanFactory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which is a sophisticated implementation of the factory pattern.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Context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builds on the solid base provided by the Core and Beans modules and it is a medium to access any objects defined and configured. The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ApplicationContext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interface is the focal point of the Context module.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SpEL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a powerful expression language for querying and manipulating an object graph at runtime.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US" sz="1000" b="1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Data Access/Integration: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 Data Access/Integration layer consists of the JDBC, ORM, OXM, JMS and Transaction modules whose detail is as follows: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JDBC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a JDBC-abstraction layer that removes the need to do tedious JDBC related coding.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ORM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integration layers for popular object-relational mapping APIs, including JPA, JDO, Hibernate, and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iBatis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OXM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an abstraction layer that supports Object/XML mapping implementations for JAXB, Castor,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XMLBeans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,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JiBX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and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XStream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 Java Messaging Service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JMS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contains features for producing and consuming messages.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Transaction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supports programmatic and declarative transaction management for classes that implement special interfaces and for all your POJOs.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US" sz="1000" b="1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The Web layer consists of the Web, Web-MVC, Web-Socket, and Web-Portlet modules whose detail is as follows: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basic web-oriented integration features such as multipart file-upload functionality and the initialization of the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IoC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container using servlet listeners and a web-oriented application context.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Web-MVC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contains Spring's model-view-controller (MVC) implementation for web applications.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Web-Socket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support for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WebSocket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-based, two-way communication between client and server in web applications.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Web-Portlet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the MVC implementation to be used in a portlet environment and mirrors the functionality of Web-Servlet module.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US" sz="1000" b="1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Miscellaneous: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There are few other important modules like AOP, Aspects, Instrumentation, Web and Test modules whose detail is as follows: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AOP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aspect-oriented programming implementation allowing you to define method-interceptors and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pointcuts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to cleanly decouple code that implements functionality that should be separated.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Aspects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integration with AspectJ which is again a powerful and mature aspect oriented programming (AOP) framework.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Instrumentation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class instrumentation support and class loader implementations to be used in certain application servers.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Messaging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support for STOMP as the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WebSocket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sub-protocol to use in applications. It also supports an annotation programming model for routing and processing STOMP messages from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WebSocket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clients.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Test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supports the testing of Spring components with JUnit or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TestNG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frameworks.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2882A8-505A-4B1A-A81A-4EF28D193D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1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D2394B-E06C-4DC9-BCC2-551C3DED9AAD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200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1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Core Container: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 Core Container consists of the Core, Beans, Context, and Expression Language modules whose detail is as follows: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Core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the fundamental parts of the framework, including the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IoC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and Dependency Injection features.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Bean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BeanFactory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which is a sophisticated implementation of the factory pattern.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Context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builds on the solid base provided by the Core and Beans modules and it is a medium to access any objects defined and configured. The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ApplicationContext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interface is the focal point of the Context module.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SpEL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a powerful expression language for querying and manipulating an object graph at runtime.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US" sz="1000" b="1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Data Access/Integration: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 Data Access/Integration layer consists of the JDBC, ORM, OXM, JMS and Transaction modules whose detail is as follows: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JDBC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a JDBC-abstraction layer that removes the need to do tedious JDBC related coding.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ORM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integration layers for popular object-relational mapping APIs, including JPA, JDO, Hibernate, and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iBatis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OXM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an abstraction layer that supports Object/XML mapping implementations for JAXB, Castor,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XMLBeans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,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JiBX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and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XStream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 Java Messaging Service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JMS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contains features for producing and consuming messages.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Transaction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supports programmatic and declarative transaction management for classes that implement special interfaces and for all your POJOs.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US" sz="1000" b="1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The Web layer consists of the Web, Web-MVC, Web-Socket, and Web-Portlet modules whose detail is as follows: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basic web-oriented integration features such as multipart file-upload functionality and the initialization of the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IoC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container using servlet listeners and a web-oriented application context.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Web-MVC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contains Spring's model-view-controller (MVC) implementation for web applications.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Web-Socket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support for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WebSocket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-based, two-way communication between client and server in web applications.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Web-Portlet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the MVC implementation to be used in a portlet environment and mirrors the functionality of Web-Servlet module.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US" sz="1000" b="1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Miscellaneous: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There are few other important modules like AOP, Aspects, Instrumentation, Web and Test modules whose detail is as follows: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AOP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aspect-oriented programming implementation allowing you to define method-interceptors and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pointcuts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to cleanly decouple code that implements functionality that should be separated.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Aspects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integration with AspectJ which is again a powerful and mature aspect oriented programming (AOP) framework.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Instrumentation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class instrumentation support and class loader implementations to be used in certain application servers.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Messaging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provides support for STOMP as the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WebSocket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sub-protocol to use in applications. It also supports an annotation programming model for routing and processing STOMP messages from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WebSocket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clients.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	The </a:t>
            </a:r>
            <a:r>
              <a:rPr lang="en-US" sz="10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Test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module supports the testing of Spring components with JUnit or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TestNG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frameworks.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2882A8-505A-4B1A-A81A-4EF28D193D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1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2818041"/>
            <a:ext cx="4604052" cy="819604"/>
          </a:xfrm>
        </p:spPr>
        <p:txBody>
          <a:bodyPr anchor="t"/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35974"/>
            <a:ext cx="8458200" cy="555059"/>
          </a:xfrm>
          <a:ln/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Text Box 31"/>
          <p:cNvSpPr txBox="1">
            <a:spLocks noChangeArrowheads="1"/>
          </p:cNvSpPr>
          <p:nvPr userDrawn="1"/>
        </p:nvSpPr>
        <p:spPr bwMode="auto">
          <a:xfrm>
            <a:off x="400812" y="4831136"/>
            <a:ext cx="253365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800" dirty="0">
                <a:solidFill>
                  <a:srgbClr val="000000"/>
                </a:solidFill>
                <a:cs typeface="Arial" charset="0"/>
              </a:rPr>
              <a:t>TI </a:t>
            </a:r>
            <a:r>
              <a:rPr lang="en-US" sz="800" dirty="0" smtClean="0">
                <a:solidFill>
                  <a:srgbClr val="000000"/>
                </a:solidFill>
                <a:cs typeface="Arial" charset="0"/>
              </a:rPr>
              <a:t>Information – Selective Disclosure</a:t>
            </a:r>
            <a:endParaRPr lang="en-US" sz="800" dirty="0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4924926" y="537486"/>
            <a:ext cx="123385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en-US" sz="2800" b="1" dirty="0" smtClean="0">
                <a:solidFill>
                  <a:srgbClr val="000000"/>
                </a:solidFill>
                <a:latin typeface="Arial Black" panose="020B0A04020102020204" pitchFamily="34" charset="0"/>
                <a:cs typeface="Arial" charset="0"/>
              </a:rPr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3112577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66"/>
            <a:ext cx="8458200" cy="1102519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6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29179"/>
            <a:ext cx="2133600" cy="154781"/>
          </a:xfrm>
        </p:spPr>
        <p:txBody>
          <a:bodyPr/>
          <a:lstStyle>
            <a:lvl1pPr>
              <a:defRPr/>
            </a:lvl1pPr>
          </a:lstStyle>
          <a:p>
            <a:fld id="{B1006088-BF21-4FD5-870B-675EAADE47B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682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2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2"/>
          <p:cNvSpPr/>
          <p:nvPr userDrawn="1"/>
        </p:nvSpPr>
        <p:spPr>
          <a:xfrm>
            <a:off x="83" y="4741069"/>
            <a:ext cx="8810625" cy="349758"/>
          </a:xfrm>
          <a:prstGeom prst="rect">
            <a:avLst/>
          </a:prstGeom>
          <a:solidFill>
            <a:schemeClr val="bg1"/>
          </a:solidFill>
          <a:ln w="9525">
            <a:solidFill>
              <a:srgbClr val="AA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75448" y="4830408"/>
            <a:ext cx="1874837" cy="173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66"/>
            <a:ext cx="8458200" cy="1102519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6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29179"/>
            <a:ext cx="2133600" cy="154781"/>
          </a:xfrm>
        </p:spPr>
        <p:txBody>
          <a:bodyPr/>
          <a:lstStyle>
            <a:lvl1pPr>
              <a:defRPr/>
            </a:lvl1pPr>
          </a:lstStyle>
          <a:p>
            <a:fld id="{B09843C0-6DAC-490D-A4BA-BCECDC8ED96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 Box 31"/>
          <p:cNvSpPr txBox="1">
            <a:spLocks noChangeArrowheads="1"/>
          </p:cNvSpPr>
          <p:nvPr userDrawn="1"/>
        </p:nvSpPr>
        <p:spPr bwMode="auto">
          <a:xfrm>
            <a:off x="314325" y="4529138"/>
            <a:ext cx="253365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800" dirty="0">
                <a:solidFill>
                  <a:srgbClr val="000000"/>
                </a:solidFill>
                <a:latin typeface="Arial"/>
                <a:cs typeface="Arial" charset="0"/>
              </a:rPr>
              <a:t>TI Information – Selective Disclosure</a:t>
            </a:r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6931849" y="79"/>
            <a:ext cx="1967009" cy="461665"/>
            <a:chOff x="6931827" y="68"/>
            <a:chExt cx="1967009" cy="461665"/>
          </a:xfrm>
        </p:grpSpPr>
        <p:sp>
          <p:nvSpPr>
            <p:cNvPr id="20" name="TextBox 19"/>
            <p:cNvSpPr txBox="1"/>
            <p:nvPr/>
          </p:nvSpPr>
          <p:spPr>
            <a:xfrm>
              <a:off x="6931827" y="68"/>
              <a:ext cx="9995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2400" b="1" dirty="0" smtClean="0">
                  <a:solidFill>
                    <a:srgbClr val="000000"/>
                  </a:solidFill>
                  <a:latin typeface="Arial Black" panose="020B0A04020102020204" pitchFamily="34" charset="0"/>
                  <a:cs typeface="Arial" charset="0"/>
                </a:rPr>
                <a:t>2015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791740" y="21936"/>
              <a:ext cx="110709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dirty="0" smtClean="0">
                  <a:solidFill>
                    <a:srgbClr val="000000"/>
                  </a:solidFill>
                  <a:latin typeface="Arial"/>
                  <a:cs typeface="Arial" charset="0"/>
                </a:rPr>
                <a:t>Execute and gain share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9190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83" y="4743450"/>
            <a:ext cx="8804275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83" y="4741069"/>
            <a:ext cx="8810625" cy="349758"/>
          </a:xfrm>
          <a:prstGeom prst="rect">
            <a:avLst/>
          </a:prstGeom>
          <a:solidFill>
            <a:schemeClr val="bg1"/>
          </a:solidFill>
          <a:ln w="9525">
            <a:solidFill>
              <a:srgbClr val="AA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75448" y="4830408"/>
            <a:ext cx="1874837" cy="173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66"/>
            <a:ext cx="8458200" cy="1102519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6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29179"/>
            <a:ext cx="2133600" cy="154781"/>
          </a:xfrm>
        </p:spPr>
        <p:txBody>
          <a:bodyPr/>
          <a:lstStyle>
            <a:lvl1pPr>
              <a:defRPr/>
            </a:lvl1pPr>
          </a:lstStyle>
          <a:p>
            <a:fld id="{F2394529-A9B3-4A54-83EC-E61379E8334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31"/>
          <p:cNvSpPr txBox="1">
            <a:spLocks noChangeArrowheads="1"/>
          </p:cNvSpPr>
          <p:nvPr userDrawn="1"/>
        </p:nvSpPr>
        <p:spPr bwMode="auto">
          <a:xfrm>
            <a:off x="314325" y="4529138"/>
            <a:ext cx="253365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800" dirty="0">
                <a:solidFill>
                  <a:srgbClr val="000000"/>
                </a:solidFill>
                <a:latin typeface="Arial"/>
                <a:cs typeface="Arial" charset="0"/>
              </a:rPr>
              <a:t>TI Information – Selective Disclosure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6931849" y="79"/>
            <a:ext cx="1967009" cy="461665"/>
            <a:chOff x="6931827" y="68"/>
            <a:chExt cx="1967009" cy="461665"/>
          </a:xfrm>
        </p:grpSpPr>
        <p:sp>
          <p:nvSpPr>
            <p:cNvPr id="21" name="TextBox 20"/>
            <p:cNvSpPr txBox="1"/>
            <p:nvPr/>
          </p:nvSpPr>
          <p:spPr>
            <a:xfrm>
              <a:off x="6931827" y="68"/>
              <a:ext cx="9995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2400" b="1" dirty="0" smtClean="0">
                  <a:solidFill>
                    <a:srgbClr val="000000"/>
                  </a:solidFill>
                  <a:latin typeface="Arial Black" panose="020B0A04020102020204" pitchFamily="34" charset="0"/>
                  <a:cs typeface="Arial" charset="0"/>
                </a:rPr>
                <a:t>2015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791740" y="21936"/>
              <a:ext cx="110709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dirty="0" smtClean="0">
                  <a:solidFill>
                    <a:srgbClr val="000000"/>
                  </a:solidFill>
                  <a:latin typeface="Arial"/>
                  <a:cs typeface="Arial" charset="0"/>
                </a:rPr>
                <a:t>Execute and gain share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5865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_grey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0" y="4743450"/>
            <a:ext cx="878205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83" y="4741069"/>
            <a:ext cx="8810625" cy="349758"/>
          </a:xfrm>
          <a:prstGeom prst="rect">
            <a:avLst/>
          </a:prstGeom>
          <a:solidFill>
            <a:schemeClr val="bg1"/>
          </a:solidFill>
          <a:ln w="9525">
            <a:solidFill>
              <a:srgbClr val="AA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75448" y="4830408"/>
            <a:ext cx="1874837" cy="173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 Box 31"/>
          <p:cNvSpPr txBox="1">
            <a:spLocks noChangeArrowheads="1"/>
          </p:cNvSpPr>
          <p:nvPr userDrawn="1"/>
        </p:nvSpPr>
        <p:spPr bwMode="auto">
          <a:xfrm>
            <a:off x="314325" y="4529138"/>
            <a:ext cx="253365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800" dirty="0">
                <a:solidFill>
                  <a:srgbClr val="000000"/>
                </a:solidFill>
                <a:latin typeface="Arial"/>
                <a:cs typeface="Arial" charset="0"/>
              </a:rPr>
              <a:t>TI Information – Selective Disclosure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66"/>
            <a:ext cx="8458200" cy="1102519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6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29179"/>
            <a:ext cx="2133600" cy="154781"/>
          </a:xfrm>
        </p:spPr>
        <p:txBody>
          <a:bodyPr/>
          <a:lstStyle>
            <a:lvl1pPr>
              <a:defRPr/>
            </a:lvl1pPr>
          </a:lstStyle>
          <a:p>
            <a:fld id="{91A5AC0A-F4BD-4464-80DC-A88E0D9F781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6931849" y="79"/>
            <a:ext cx="1967009" cy="461665"/>
            <a:chOff x="6931827" y="68"/>
            <a:chExt cx="1967009" cy="461665"/>
          </a:xfrm>
        </p:grpSpPr>
        <p:sp>
          <p:nvSpPr>
            <p:cNvPr id="21" name="TextBox 20"/>
            <p:cNvSpPr txBox="1"/>
            <p:nvPr/>
          </p:nvSpPr>
          <p:spPr>
            <a:xfrm>
              <a:off x="6931827" y="68"/>
              <a:ext cx="9995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2400" b="1" dirty="0" smtClean="0">
                  <a:solidFill>
                    <a:srgbClr val="000000"/>
                  </a:solidFill>
                  <a:latin typeface="Arial Black" panose="020B0A04020102020204" pitchFamily="34" charset="0"/>
                  <a:cs typeface="Arial" charset="0"/>
                </a:rPr>
                <a:t>2015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791740" y="21936"/>
              <a:ext cx="110709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dirty="0" smtClean="0">
                  <a:solidFill>
                    <a:srgbClr val="000000"/>
                  </a:solidFill>
                  <a:latin typeface="Arial"/>
                  <a:cs typeface="Arial" charset="0"/>
                </a:rPr>
                <a:t>Execute and gain share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6114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458" y="786352"/>
            <a:ext cx="8467725" cy="3709449"/>
          </a:xfrm>
        </p:spPr>
        <p:txBody>
          <a:bodyPr/>
          <a:lstStyle>
            <a:lvl1pPr>
              <a:spcBef>
                <a:spcPts val="800"/>
              </a:spcBef>
              <a:defRPr/>
            </a:lvl1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20521C-F793-4067-BB07-C7AF74E21EF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79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38925" y="4537514"/>
            <a:ext cx="2133600" cy="154781"/>
          </a:xfrm>
        </p:spPr>
        <p:txBody>
          <a:bodyPr/>
          <a:lstStyle>
            <a:lvl1pPr>
              <a:defRPr/>
            </a:lvl1pPr>
          </a:lstStyle>
          <a:p>
            <a:fld id="{156AB8A3-9FE4-4612-8857-687BFF70DD9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890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411" y="889399"/>
            <a:ext cx="4157663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889399"/>
            <a:ext cx="4157662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A6A834-CC4A-4943-952A-D55BFAADAD5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673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3D8EEF-7576-4AB0-8518-088FB58AB73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034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3D9FE4-F784-4A94-8F3E-54A098F0E8C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89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D60626-1ACC-48B1-8201-AA7BD5684B5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158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829"/>
            <a:ext cx="5111750" cy="4389835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5D59E-3020-483D-90FC-392986F41C5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967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4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2DB302-961D-41B7-BD2E-EA757E550C4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690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852D4D-CA63-4F5E-A04D-C043C1229BE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865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8" y="107197"/>
            <a:ext cx="2141537" cy="4301729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07197"/>
            <a:ext cx="6275388" cy="43017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0706DD-24B8-4851-91EA-2616D1811F3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007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3D9FE4-F784-4A94-8F3E-54A098F0E8C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67" y="4741069"/>
            <a:ext cx="8810625" cy="349758"/>
          </a:xfrm>
          <a:prstGeom prst="rect">
            <a:avLst/>
          </a:prstGeom>
          <a:solidFill>
            <a:schemeClr val="bg1"/>
          </a:solidFill>
          <a:ln w="9525">
            <a:solidFill>
              <a:srgbClr val="AA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" name="Picture 8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75448" y="4830400"/>
            <a:ext cx="1874837" cy="173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33442" y="786352"/>
            <a:ext cx="8467725" cy="3709449"/>
          </a:xfrm>
        </p:spPr>
        <p:txBody>
          <a:bodyPr/>
          <a:lstStyle>
            <a:lvl1pPr>
              <a:spcBef>
                <a:spcPts val="800"/>
              </a:spcBef>
              <a:defRPr/>
            </a:lvl1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25785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3D9FE4-F784-4A94-8F3E-54A098F0E8CC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9" y="4741069"/>
            <a:ext cx="8810625" cy="349758"/>
          </a:xfrm>
          <a:prstGeom prst="rect">
            <a:avLst/>
          </a:prstGeom>
          <a:solidFill>
            <a:schemeClr val="bg1"/>
          </a:solidFill>
          <a:ln w="9525">
            <a:solidFill>
              <a:srgbClr val="AA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4" tIns="45702" rIns="91404" bIns="45702" rtlCol="0" anchor="ctr"/>
          <a:lstStyle/>
          <a:p>
            <a:pPr algn="ctr"/>
            <a:endParaRPr lang="en-US" dirty="0"/>
          </a:p>
        </p:txBody>
      </p:sp>
      <p:pic>
        <p:nvPicPr>
          <p:cNvPr id="5" name="Picture 8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75448" y="4830376"/>
            <a:ext cx="1874837" cy="173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33391" y="786352"/>
            <a:ext cx="8467725" cy="3709449"/>
          </a:xfrm>
        </p:spPr>
        <p:txBody>
          <a:bodyPr/>
          <a:lstStyle>
            <a:lvl1pPr>
              <a:spcBef>
                <a:spcPts val="800"/>
              </a:spcBef>
              <a:defRPr/>
            </a:lvl1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69238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83" y="4743450"/>
            <a:ext cx="8804275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358" y="4743450"/>
            <a:ext cx="8740775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3" y="4741069"/>
            <a:ext cx="8810625" cy="349758"/>
          </a:xfrm>
          <a:prstGeom prst="rect">
            <a:avLst/>
          </a:prstGeom>
          <a:solidFill>
            <a:schemeClr val="bg1"/>
          </a:solidFill>
          <a:ln w="9525">
            <a:solidFill>
              <a:srgbClr val="AA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28" name="Picture 8" descr="ti_logo_powerpoint_1_line.png"/>
          <p:cNvPicPr>
            <a:picLocks noChangeAspect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6675448" y="4830408"/>
            <a:ext cx="1874837" cy="173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07156"/>
            <a:ext cx="8458200" cy="61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3458" y="794183"/>
            <a:ext cx="8467725" cy="37016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96835" y="4821302"/>
            <a:ext cx="2133600" cy="154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/>
            </a:lvl1pPr>
          </a:lstStyle>
          <a:p>
            <a:fld id="{3144B24B-BAB1-431A-82C6-36E096187F50}" type="slidenum">
              <a:rPr lang="en-US">
                <a:solidFill>
                  <a:srgbClr val="000000"/>
                </a:solidFill>
                <a:latin typeface="Arial"/>
                <a:cs typeface="Arial" charset="0"/>
              </a:rPr>
              <a:pPr/>
              <a:t>‹#›</a:t>
            </a:fld>
            <a:endParaRPr lang="en-US" dirty="0">
              <a:solidFill>
                <a:srgbClr val="000000"/>
              </a:solidFill>
              <a:latin typeface="Arial"/>
              <a:cs typeface="Arial" charset="0"/>
            </a:endParaRPr>
          </a:p>
        </p:txBody>
      </p:sp>
      <p:sp>
        <p:nvSpPr>
          <p:cNvPr id="10" name="Text Box 31"/>
          <p:cNvSpPr txBox="1">
            <a:spLocks noChangeArrowheads="1"/>
          </p:cNvSpPr>
          <p:nvPr/>
        </p:nvSpPr>
        <p:spPr bwMode="auto">
          <a:xfrm>
            <a:off x="314325" y="4812926"/>
            <a:ext cx="253365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800" dirty="0">
                <a:solidFill>
                  <a:srgbClr val="000000"/>
                </a:solidFill>
                <a:latin typeface="Arial"/>
                <a:cs typeface="Arial" charset="0"/>
              </a:rPr>
              <a:t>TI Information – Selective Disclosure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6931849" y="79"/>
            <a:ext cx="1967009" cy="461665"/>
            <a:chOff x="6931827" y="68"/>
            <a:chExt cx="1967009" cy="461665"/>
          </a:xfrm>
        </p:grpSpPr>
        <p:sp>
          <p:nvSpPr>
            <p:cNvPr id="15" name="TextBox 14"/>
            <p:cNvSpPr txBox="1"/>
            <p:nvPr/>
          </p:nvSpPr>
          <p:spPr>
            <a:xfrm>
              <a:off x="6931827" y="68"/>
              <a:ext cx="9995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2400" b="1" dirty="0" smtClean="0">
                  <a:solidFill>
                    <a:srgbClr val="000000"/>
                  </a:solidFill>
                  <a:latin typeface="Arial Black" panose="020B0A04020102020204" pitchFamily="34" charset="0"/>
                  <a:cs typeface="Arial" charset="0"/>
                </a:rPr>
                <a:t>2016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791740" y="21936"/>
              <a:ext cx="110709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dirty="0" smtClean="0">
                  <a:solidFill>
                    <a:srgbClr val="000000"/>
                  </a:solidFill>
                  <a:latin typeface="Arial"/>
                  <a:cs typeface="Arial" charset="0"/>
                </a:rPr>
                <a:t>Execute and gain share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394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77" r:id="rId16"/>
    <p:sldLayoutId id="2147483799" r:id="rId1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9pPr>
    </p:titleStyle>
    <p:bodyStyle>
      <a:lvl1pPr marL="227013" indent="-227013" algn="l" rtl="0" eaLnBrk="0" fontAlgn="base" hangingPunct="0">
        <a:spcBef>
          <a:spcPts val="8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233363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854075" indent="-165100" algn="l" rtl="0" eaLnBrk="0" fontAlgn="base" hangingPunct="0">
        <a:spcBef>
          <a:spcPct val="15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201738" indent="-233363" algn="l" rtl="0" eaLnBrk="0" fontAlgn="base" hangingPunct="0">
        <a:spcBef>
          <a:spcPct val="5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1489075" indent="-173038" algn="l" rtl="0" eaLnBrk="0" fontAlgn="base" hangingPunct="0">
        <a:spcBef>
          <a:spcPct val="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1946275" indent="-173038" algn="l" rtl="0" fontAlgn="base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403475" indent="-173038" algn="l" rtl="0" fontAlgn="base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2860675" indent="-173038" algn="l" rtl="0" fontAlgn="base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317875" indent="-173038" algn="l" rtl="0" fontAlgn="base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tutorialspoint.com/spring/spring_architecture.ht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microsoft.com/office/2007/relationships/diagramDrawing" Target="../diagrams/drawing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11" Type="http://schemas.openxmlformats.org/officeDocument/2006/relationships/diagramQuickStyle" Target="../diagrams/quickStyle2.xml"/><Relationship Id="rId5" Type="http://schemas.openxmlformats.org/officeDocument/2006/relationships/diagramQuickStyle" Target="../diagrams/quickStyle1.xml"/><Relationship Id="rId10" Type="http://schemas.openxmlformats.org/officeDocument/2006/relationships/diagramLayout" Target="../diagrams/layout2.xml"/><Relationship Id="rId4" Type="http://schemas.openxmlformats.org/officeDocument/2006/relationships/diagramLayout" Target="../diagrams/layout1.xml"/><Relationship Id="rId9" Type="http://schemas.openxmlformats.org/officeDocument/2006/relationships/diagramData" Target="../diagrams/data2.xml"/><Relationship Id="rId14" Type="http://schemas.openxmlformats.org/officeDocument/2006/relationships/image" Target="../media/image9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itg.ti.com/display/spring/Spring+Web+Developmen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itg.ti.com/display/spring/STS+IDE+Setup" TargetMode="External"/><Relationship Id="rId2" Type="http://schemas.openxmlformats.org/officeDocument/2006/relationships/hyperlink" Target="https://confluence.itg.ti.com/display/spring/NetBeans+IDE+Setup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57414" y="2699658"/>
            <a:ext cx="4604052" cy="843932"/>
          </a:xfrm>
        </p:spPr>
        <p:txBody>
          <a:bodyPr/>
          <a:lstStyle/>
          <a:p>
            <a:r>
              <a:rPr lang="en-US" sz="3200" dirty="0" smtClean="0">
                <a:solidFill>
                  <a:schemeClr val="tx2"/>
                </a:solidFill>
              </a:rPr>
              <a:t>Spring Framework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84629" y="3618229"/>
            <a:ext cx="8458200" cy="638086"/>
          </a:xfrm>
        </p:spPr>
        <p:txBody>
          <a:bodyPr numCol="2"/>
          <a:lstStyle/>
          <a:p>
            <a:pPr>
              <a:spcBef>
                <a:spcPts val="0"/>
              </a:spcBef>
            </a:pPr>
            <a:r>
              <a:rPr lang="en-US" sz="1600" dirty="0" smtClean="0">
                <a:latin typeface="+mj-lt"/>
              </a:rPr>
              <a:t>Rod Tumbaga</a:t>
            </a:r>
          </a:p>
          <a:p>
            <a:pPr>
              <a:spcBef>
                <a:spcPts val="0"/>
              </a:spcBef>
            </a:pPr>
            <a:r>
              <a:rPr lang="en-US" sz="1600" dirty="0" smtClean="0">
                <a:latin typeface="+mj-lt"/>
              </a:rPr>
              <a:t>Ryan Lamaroza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4821242"/>
            <a:ext cx="2133600" cy="155575"/>
          </a:xfrm>
        </p:spPr>
        <p:txBody>
          <a:bodyPr/>
          <a:lstStyle/>
          <a:p>
            <a:fld id="{3B20521C-F793-4067-BB07-C7AF74E21EF3}" type="slidenum">
              <a:rPr lang="en-US" smtClean="0">
                <a:solidFill>
                  <a:srgbClr val="000000"/>
                </a:solidFill>
              </a:rPr>
              <a:pPr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41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/>
          <p:cNvSpPr>
            <a:spLocks noGrp="1"/>
          </p:cNvSpPr>
          <p:nvPr>
            <p:ph type="title"/>
          </p:nvPr>
        </p:nvSpPr>
        <p:spPr>
          <a:xfrm>
            <a:off x="231775" y="107156"/>
            <a:ext cx="8458200" cy="610791"/>
          </a:xfrm>
        </p:spPr>
        <p:txBody>
          <a:bodyPr/>
          <a:lstStyle/>
          <a:p>
            <a:r>
              <a:rPr lang="en-US" dirty="0" smtClean="0"/>
              <a:t>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6857" y="786352"/>
            <a:ext cx="4374326" cy="3709449"/>
          </a:xfrm>
        </p:spPr>
        <p:txBody>
          <a:bodyPr/>
          <a:lstStyle/>
          <a:p>
            <a:r>
              <a:rPr lang="en-US" sz="1800" b="1" dirty="0" smtClean="0"/>
              <a:t>What is Spring Framework</a:t>
            </a:r>
          </a:p>
          <a:p>
            <a:r>
              <a:rPr lang="en-US" sz="1800" b="1" dirty="0" smtClean="0"/>
              <a:t>The Spring Architecture</a:t>
            </a:r>
          </a:p>
          <a:p>
            <a:r>
              <a:rPr lang="en-US" sz="1800" b="1" dirty="0" smtClean="0"/>
              <a:t>Journey From Request to Response</a:t>
            </a:r>
          </a:p>
          <a:p>
            <a:endParaRPr lang="en-US" sz="1800" b="1" dirty="0" smtClean="0"/>
          </a:p>
          <a:p>
            <a:r>
              <a:rPr lang="en-US" sz="1800" b="1" dirty="0" smtClean="0"/>
              <a:t>Activities</a:t>
            </a:r>
            <a:endParaRPr lang="en-US" sz="1800" b="1" dirty="0"/>
          </a:p>
        </p:txBody>
      </p:sp>
      <p:pic>
        <p:nvPicPr>
          <p:cNvPr id="9218" name="Picture 2" descr="Image result for topic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48" y="827313"/>
            <a:ext cx="3864882" cy="359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6564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/>
          <p:cNvSpPr>
            <a:spLocks noGrp="1"/>
          </p:cNvSpPr>
          <p:nvPr>
            <p:ph type="title"/>
          </p:nvPr>
        </p:nvSpPr>
        <p:spPr>
          <a:xfrm>
            <a:off x="231775" y="107156"/>
            <a:ext cx="8458200" cy="610791"/>
          </a:xfrm>
        </p:spPr>
        <p:txBody>
          <a:bodyPr/>
          <a:lstStyle/>
          <a:p>
            <a:r>
              <a:rPr lang="en-US" dirty="0" smtClean="0"/>
              <a:t>What is the Spring Framework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33458" y="786352"/>
            <a:ext cx="5385171" cy="3709449"/>
          </a:xfrm>
        </p:spPr>
        <p:txBody>
          <a:bodyPr/>
          <a:lstStyle/>
          <a:p>
            <a:r>
              <a:rPr lang="en-US" sz="1800" dirty="0"/>
              <a:t>Spring framework is an open source Java </a:t>
            </a:r>
            <a:r>
              <a:rPr lang="en-US" sz="1800" dirty="0" smtClean="0"/>
              <a:t>platform</a:t>
            </a:r>
          </a:p>
          <a:p>
            <a:endParaRPr lang="en-US" sz="1800" dirty="0" smtClean="0"/>
          </a:p>
          <a:p>
            <a:r>
              <a:rPr lang="en-US" sz="1800" dirty="0" smtClean="0"/>
              <a:t>initially </a:t>
            </a:r>
            <a:r>
              <a:rPr lang="en-US" sz="1800" dirty="0"/>
              <a:t>written by Rod Johnson </a:t>
            </a:r>
            <a:endParaRPr lang="en-US" sz="1800" dirty="0" smtClean="0"/>
          </a:p>
          <a:p>
            <a:endParaRPr lang="en-US" sz="1800" dirty="0" smtClean="0"/>
          </a:p>
          <a:p>
            <a:r>
              <a:rPr lang="en-US" sz="1800" dirty="0" smtClean="0"/>
              <a:t>was </a:t>
            </a:r>
            <a:r>
              <a:rPr lang="en-US" sz="1800" dirty="0"/>
              <a:t>first released under the Apache 2.0 license in June 2003</a:t>
            </a:r>
            <a:r>
              <a:rPr lang="en-US" sz="1800" dirty="0" smtClean="0"/>
              <a:t>.</a:t>
            </a:r>
          </a:p>
          <a:p>
            <a:endParaRPr lang="en-US" sz="1800" dirty="0" smtClean="0"/>
          </a:p>
          <a:p>
            <a:r>
              <a:rPr lang="en-US" sz="1800" dirty="0"/>
              <a:t>The core features of the Spring Framework can be used in developing any Java </a:t>
            </a:r>
            <a:r>
              <a:rPr lang="en-US" sz="1800" dirty="0" smtClean="0"/>
              <a:t>application, </a:t>
            </a:r>
            <a:r>
              <a:rPr lang="en-US" sz="1800" dirty="0"/>
              <a:t>but there are extensions for building web applications on top of the Java EE platform</a:t>
            </a:r>
            <a:endParaRPr lang="en-US" sz="1800" dirty="0" smtClean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131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/>
          <p:cNvSpPr>
            <a:spLocks noGrp="1"/>
          </p:cNvSpPr>
          <p:nvPr>
            <p:ph type="title"/>
          </p:nvPr>
        </p:nvSpPr>
        <p:spPr>
          <a:xfrm>
            <a:off x="231775" y="107156"/>
            <a:ext cx="8458200" cy="610791"/>
          </a:xfrm>
        </p:spPr>
        <p:txBody>
          <a:bodyPr/>
          <a:lstStyle/>
          <a:p>
            <a:r>
              <a:rPr lang="en-US" dirty="0" smtClean="0"/>
              <a:t>The Spring Architecture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33459" y="786352"/>
            <a:ext cx="3948255" cy="3709449"/>
          </a:xfrm>
        </p:spPr>
        <p:txBody>
          <a:bodyPr/>
          <a:lstStyle/>
          <a:p>
            <a:endParaRPr lang="en-US" sz="1800" dirty="0" smtClean="0"/>
          </a:p>
          <a:p>
            <a:r>
              <a:rPr lang="en-US" sz="1800" dirty="0" smtClean="0"/>
              <a:t>Spring can potentially be a one stop shop</a:t>
            </a:r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r>
              <a:rPr lang="en-US" sz="1800" dirty="0" smtClean="0"/>
              <a:t>Since Spring is modular, one can only pick what is needed</a:t>
            </a:r>
          </a:p>
          <a:p>
            <a:endParaRPr lang="en-US" sz="1800" dirty="0" smtClean="0"/>
          </a:p>
        </p:txBody>
      </p:sp>
      <p:pic>
        <p:nvPicPr>
          <p:cNvPr id="1026" name="Picture 2" descr="Spring Framework Architect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928" y="885824"/>
            <a:ext cx="3886200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68825" y="4262665"/>
            <a:ext cx="3937454" cy="4354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0" fontAlgn="base" hangingPunct="0">
              <a:spcBef>
                <a:spcPts val="8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33363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2pPr>
            <a:lvl3pPr marL="854075" indent="-165100" algn="l" rtl="0" eaLnBrk="0" fontAlgn="base" hangingPunct="0">
              <a:spcBef>
                <a:spcPct val="15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1738" indent="-233363" algn="l" rtl="0" eaLnBrk="0" fontAlgn="base" hangingPunct="0">
              <a:spcBef>
                <a:spcPct val="5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1489075" indent="-173038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19462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4034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28606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3178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800" kern="0" dirty="0" smtClean="0">
                <a:hlinkClick r:id="rId4"/>
              </a:rPr>
              <a:t>More Info on Spring Framework Core</a:t>
            </a:r>
            <a:r>
              <a:rPr lang="en-US" sz="1800" kern="0" dirty="0" smtClean="0"/>
              <a:t> </a:t>
            </a:r>
            <a:endParaRPr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101385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/>
          <p:cNvSpPr>
            <a:spLocks noGrp="1"/>
          </p:cNvSpPr>
          <p:nvPr>
            <p:ph type="title"/>
          </p:nvPr>
        </p:nvSpPr>
        <p:spPr>
          <a:xfrm>
            <a:off x="231775" y="107156"/>
            <a:ext cx="8458200" cy="610791"/>
          </a:xfrm>
        </p:spPr>
        <p:txBody>
          <a:bodyPr/>
          <a:lstStyle/>
          <a:p>
            <a:r>
              <a:rPr lang="en-US" sz="2400" dirty="0" smtClean="0"/>
              <a:t>Inversion of Control thru Dependency Injection</a:t>
            </a:r>
            <a:endParaRPr lang="en-US" sz="2400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33459" y="786352"/>
            <a:ext cx="3948255" cy="3709449"/>
          </a:xfrm>
        </p:spPr>
        <p:txBody>
          <a:bodyPr/>
          <a:lstStyle/>
          <a:p>
            <a:endParaRPr lang="en-US" sz="1800" dirty="0" smtClean="0"/>
          </a:p>
          <a:p>
            <a:r>
              <a:rPr lang="en-US" sz="1800" dirty="0"/>
              <a:t>Since Spring is modular, one can only pick what is </a:t>
            </a:r>
            <a:r>
              <a:rPr lang="en-US" sz="1800" dirty="0" smtClean="0"/>
              <a:t>needed</a:t>
            </a:r>
            <a:endParaRPr lang="en-US" sz="1800" dirty="0"/>
          </a:p>
        </p:txBody>
      </p:sp>
      <p:pic>
        <p:nvPicPr>
          <p:cNvPr id="1026" name="Picture 2" descr="Spring Framework Architect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928" y="885824"/>
            <a:ext cx="3886200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14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0521C-F793-4067-BB07-C7AF74E21EF3}" type="slidenum">
              <a:rPr lang="en-US" smtClean="0">
                <a:solidFill>
                  <a:srgbClr val="000000"/>
                </a:solidFill>
              </a:rPr>
              <a:pPr/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14312" y="274638"/>
            <a:ext cx="7786687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9pPr>
          </a:lstStyle>
          <a:p>
            <a:r>
              <a:rPr lang="en-US" sz="2800" kern="0" dirty="0" smtClean="0"/>
              <a:t>The Journey from Request to Response</a:t>
            </a:r>
            <a:endParaRPr lang="en-US" kern="0" dirty="0"/>
          </a:p>
        </p:txBody>
      </p:sp>
      <p:grpSp>
        <p:nvGrpSpPr>
          <p:cNvPr id="6" name="Group 5"/>
          <p:cNvGrpSpPr/>
          <p:nvPr/>
        </p:nvGrpSpPr>
        <p:grpSpPr>
          <a:xfrm>
            <a:off x="4495800" y="836999"/>
            <a:ext cx="2514600" cy="2209800"/>
            <a:chOff x="5638800" y="1143000"/>
            <a:chExt cx="2514600" cy="2209800"/>
          </a:xfrm>
        </p:grpSpPr>
        <p:sp>
          <p:nvSpPr>
            <p:cNvPr id="7" name="Rounded Rectangle 6"/>
            <p:cNvSpPr/>
            <p:nvPr/>
          </p:nvSpPr>
          <p:spPr>
            <a:xfrm>
              <a:off x="5638800" y="1143000"/>
              <a:ext cx="2514600" cy="22098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IMPLEMENTATION</a:t>
              </a:r>
              <a:endPara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5715000" y="1676400"/>
              <a:ext cx="2362200" cy="1422400"/>
              <a:chOff x="1524000" y="1397000"/>
              <a:chExt cx="2362200" cy="1422400"/>
            </a:xfrm>
          </p:grpSpPr>
          <p:graphicFrame>
            <p:nvGraphicFramePr>
              <p:cNvPr id="9" name="Diagram 8"/>
              <p:cNvGraphicFramePr/>
              <p:nvPr>
                <p:extLst>
                  <p:ext uri="{D42A27DB-BD31-4B8C-83A1-F6EECF244321}">
                    <p14:modId xmlns:p14="http://schemas.microsoft.com/office/powerpoint/2010/main" val="1226138752"/>
                  </p:ext>
                </p:extLst>
              </p:nvPr>
            </p:nvGraphicFramePr>
            <p:xfrm>
              <a:off x="1524000" y="1397000"/>
              <a:ext cx="2362200" cy="14224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  <p:sp>
            <p:nvSpPr>
              <p:cNvPr id="10" name="TextBox 9"/>
              <p:cNvSpPr txBox="1"/>
              <p:nvPr/>
            </p:nvSpPr>
            <p:spPr>
              <a:xfrm>
                <a:off x="1905000" y="1752600"/>
                <a:ext cx="1524000" cy="6463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Data Manipulation</a:t>
                </a:r>
                <a:endParaRPr lang="en-US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11" name="Group 10"/>
          <p:cNvGrpSpPr/>
          <p:nvPr/>
        </p:nvGrpSpPr>
        <p:grpSpPr>
          <a:xfrm>
            <a:off x="6477000" y="2476500"/>
            <a:ext cx="2514600" cy="2209800"/>
            <a:chOff x="5638800" y="3962400"/>
            <a:chExt cx="2514600" cy="2209800"/>
          </a:xfrm>
        </p:grpSpPr>
        <p:sp>
          <p:nvSpPr>
            <p:cNvPr id="12" name="Rounded Rectangle 11"/>
            <p:cNvSpPr/>
            <p:nvPr/>
          </p:nvSpPr>
          <p:spPr>
            <a:xfrm>
              <a:off x="5638800" y="3962400"/>
              <a:ext cx="2514600" cy="22098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DAO</a:t>
              </a:r>
              <a:endPara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pic>
          <p:nvPicPr>
            <p:cNvPr id="13" name="Picture 5" descr="C:\Users\a0220579\Desktop\index.jp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7400" y="4648200"/>
              <a:ext cx="2057400" cy="514350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</p:pic>
      </p:grpSp>
      <p:grpSp>
        <p:nvGrpSpPr>
          <p:cNvPr id="14" name="Group 13"/>
          <p:cNvGrpSpPr/>
          <p:nvPr/>
        </p:nvGrpSpPr>
        <p:grpSpPr>
          <a:xfrm>
            <a:off x="2054225" y="2587772"/>
            <a:ext cx="2514600" cy="2263381"/>
            <a:chOff x="2514600" y="-52614"/>
            <a:chExt cx="2514600" cy="2263381"/>
          </a:xfrm>
        </p:grpSpPr>
        <p:sp>
          <p:nvSpPr>
            <p:cNvPr id="15" name="Rounded Rectangle 14"/>
            <p:cNvSpPr/>
            <p:nvPr/>
          </p:nvSpPr>
          <p:spPr>
            <a:xfrm>
              <a:off x="2514600" y="-52614"/>
              <a:ext cx="2514600" cy="22098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CONTROLLER</a:t>
              </a:r>
              <a:endPara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graphicFrame>
          <p:nvGraphicFramePr>
            <p:cNvPr id="16" name="Diagram 15"/>
            <p:cNvGraphicFramePr/>
            <p:nvPr>
              <p:extLst>
                <p:ext uri="{D42A27DB-BD31-4B8C-83A1-F6EECF244321}">
                  <p14:modId xmlns:p14="http://schemas.microsoft.com/office/powerpoint/2010/main" val="1841784787"/>
                </p:ext>
              </p:extLst>
            </p:nvPr>
          </p:nvGraphicFramePr>
          <p:xfrm>
            <a:off x="2555393" y="762967"/>
            <a:ext cx="2433014" cy="14478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" r:lo="rId10" r:qs="rId11" r:cs="rId12"/>
            </a:graphicData>
          </a:graphic>
        </p:graphicFrame>
      </p:grpSp>
      <p:pic>
        <p:nvPicPr>
          <p:cNvPr id="17" name="Picture 7" descr="C:\Users\a0220579\Desktop\Browsers.gi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42" y="1101554"/>
            <a:ext cx="2141538" cy="1837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/>
          <p:cNvGrpSpPr/>
          <p:nvPr/>
        </p:nvGrpSpPr>
        <p:grpSpPr>
          <a:xfrm>
            <a:off x="2116052" y="1591493"/>
            <a:ext cx="1524000" cy="996279"/>
            <a:chOff x="2116052" y="1591493"/>
            <a:chExt cx="1524000" cy="996279"/>
          </a:xfrm>
        </p:grpSpPr>
        <p:cxnSp>
          <p:nvCxnSpPr>
            <p:cNvPr id="19" name="Curved Connector 18"/>
            <p:cNvCxnSpPr>
              <a:stCxn id="17" idx="3"/>
              <a:endCxn id="15" idx="0"/>
            </p:cNvCxnSpPr>
            <p:nvPr/>
          </p:nvCxnSpPr>
          <p:spPr>
            <a:xfrm>
              <a:off x="2444580" y="2020544"/>
              <a:ext cx="866945" cy="567228"/>
            </a:xfrm>
            <a:prstGeom prst="curvedConnector2">
              <a:avLst/>
            </a:prstGeom>
            <a:ln w="50800">
              <a:solidFill>
                <a:schemeClr val="accent6">
                  <a:lumMod val="50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2116052" y="1591493"/>
              <a:ext cx="15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 prst="convex"/>
              </a:sp3d>
            </a:bodyPr>
            <a:lstStyle/>
            <a:p>
              <a:pPr algn="ctr"/>
              <a:r>
                <a:rPr lang="en-US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REQUEST</a:t>
              </a:r>
              <a:endPara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03042" y="3046799"/>
            <a:ext cx="1524000" cy="1011198"/>
            <a:chOff x="530225" y="2939534"/>
            <a:chExt cx="1524000" cy="1011198"/>
          </a:xfrm>
        </p:grpSpPr>
        <p:cxnSp>
          <p:nvCxnSpPr>
            <p:cNvPr id="22" name="Curved Connector 21"/>
            <p:cNvCxnSpPr>
              <a:stCxn id="15" idx="1"/>
              <a:endCxn id="17" idx="2"/>
            </p:cNvCxnSpPr>
            <p:nvPr/>
          </p:nvCxnSpPr>
          <p:spPr>
            <a:xfrm rot="10800000">
              <a:off x="1373811" y="2939534"/>
              <a:ext cx="680414" cy="753138"/>
            </a:xfrm>
            <a:prstGeom prst="curvedConnector2">
              <a:avLst/>
            </a:prstGeom>
            <a:ln w="63500">
              <a:solidFill>
                <a:schemeClr val="accent3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530225" y="3581400"/>
              <a:ext cx="15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 prst="convex"/>
              </a:sp3d>
            </a:bodyPr>
            <a:lstStyle/>
            <a:p>
              <a:pPr algn="ctr"/>
              <a:r>
                <a:rPr lang="en-US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RESPONSE</a:t>
              </a:r>
              <a:endPara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311525" y="1541333"/>
            <a:ext cx="1558130" cy="1046440"/>
            <a:chOff x="3311525" y="1541333"/>
            <a:chExt cx="1558130" cy="1046440"/>
          </a:xfrm>
        </p:grpSpPr>
        <p:cxnSp>
          <p:nvCxnSpPr>
            <p:cNvPr id="25" name="Curved Connector 24"/>
            <p:cNvCxnSpPr>
              <a:stCxn id="15" idx="0"/>
              <a:endCxn id="7" idx="1"/>
            </p:cNvCxnSpPr>
            <p:nvPr/>
          </p:nvCxnSpPr>
          <p:spPr>
            <a:xfrm rot="5400000" flipH="1" flipV="1">
              <a:off x="3580726" y="1672699"/>
              <a:ext cx="645873" cy="1184275"/>
            </a:xfrm>
            <a:prstGeom prst="curvedConnector2">
              <a:avLst/>
            </a:prstGeom>
            <a:ln w="50800">
              <a:solidFill>
                <a:schemeClr val="accent6">
                  <a:lumMod val="50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3345655" y="1541333"/>
              <a:ext cx="15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 prst="convex"/>
              </a:sp3d>
            </a:bodyPr>
            <a:lstStyle/>
            <a:p>
              <a:pPr algn="ctr"/>
              <a:r>
                <a:rPr lang="en-US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CALL</a:t>
              </a:r>
              <a:endPara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10400" y="1910665"/>
            <a:ext cx="1752600" cy="565835"/>
            <a:chOff x="7010400" y="1910665"/>
            <a:chExt cx="1752600" cy="565835"/>
          </a:xfrm>
        </p:grpSpPr>
        <p:cxnSp>
          <p:nvCxnSpPr>
            <p:cNvPr id="28" name="Curved Connector 27"/>
            <p:cNvCxnSpPr>
              <a:stCxn id="7" idx="3"/>
              <a:endCxn id="12" idx="0"/>
            </p:cNvCxnSpPr>
            <p:nvPr/>
          </p:nvCxnSpPr>
          <p:spPr>
            <a:xfrm>
              <a:off x="7010400" y="1941899"/>
              <a:ext cx="723900" cy="534601"/>
            </a:xfrm>
            <a:prstGeom prst="curvedConnector2">
              <a:avLst/>
            </a:prstGeom>
            <a:ln w="50800">
              <a:solidFill>
                <a:schemeClr val="accent6">
                  <a:lumMod val="50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7239000" y="1910665"/>
              <a:ext cx="15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 prst="convex"/>
              </a:sp3d>
            </a:bodyPr>
            <a:lstStyle/>
            <a:p>
              <a:pPr algn="ctr"/>
              <a:r>
                <a:rPr lang="en-US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CALL</a:t>
              </a:r>
              <a:endPara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267200" y="3046799"/>
            <a:ext cx="1524000" cy="2280729"/>
            <a:chOff x="4267200" y="3046799"/>
            <a:chExt cx="1524000" cy="2280729"/>
          </a:xfrm>
        </p:grpSpPr>
        <p:cxnSp>
          <p:nvCxnSpPr>
            <p:cNvPr id="31" name="Curved Connector 30"/>
            <p:cNvCxnSpPr>
              <a:stCxn id="7" idx="2"/>
              <a:endCxn id="15" idx="3"/>
            </p:cNvCxnSpPr>
            <p:nvPr/>
          </p:nvCxnSpPr>
          <p:spPr>
            <a:xfrm rot="5400000">
              <a:off x="4838027" y="2777598"/>
              <a:ext cx="645873" cy="1184275"/>
            </a:xfrm>
            <a:prstGeom prst="curvedConnector2">
              <a:avLst/>
            </a:prstGeom>
            <a:ln w="63500">
              <a:solidFill>
                <a:schemeClr val="accent3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4267200" y="4958196"/>
              <a:ext cx="15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 prst="convex"/>
              </a:sp3d>
            </a:bodyPr>
            <a:lstStyle/>
            <a:p>
              <a:pPr algn="ctr"/>
              <a:r>
                <a:rPr lang="en-US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RESPONSE</a:t>
              </a:r>
              <a:endPara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310743" y="3046800"/>
            <a:ext cx="2166257" cy="1378546"/>
            <a:chOff x="4310743" y="3046800"/>
            <a:chExt cx="2166257" cy="1378546"/>
          </a:xfrm>
        </p:grpSpPr>
        <p:cxnSp>
          <p:nvCxnSpPr>
            <p:cNvPr id="34" name="Curved Connector 33"/>
            <p:cNvCxnSpPr>
              <a:stCxn id="12" idx="1"/>
              <a:endCxn id="7" idx="2"/>
            </p:cNvCxnSpPr>
            <p:nvPr/>
          </p:nvCxnSpPr>
          <p:spPr>
            <a:xfrm rot="10800000">
              <a:off x="5753100" y="3046800"/>
              <a:ext cx="723900" cy="534601"/>
            </a:xfrm>
            <a:prstGeom prst="curvedConnector2">
              <a:avLst/>
            </a:prstGeom>
            <a:ln w="63500">
              <a:solidFill>
                <a:schemeClr val="accent3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4310743" y="4056014"/>
              <a:ext cx="15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 prst="convex"/>
              </a:sp3d>
            </a:bodyPr>
            <a:lstStyle/>
            <a:p>
              <a:pPr algn="ctr"/>
              <a:r>
                <a:rPr lang="en-US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RESPONSE</a:t>
              </a:r>
              <a:endPara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828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/>
          <p:cNvSpPr>
            <a:spLocks noGrp="1"/>
          </p:cNvSpPr>
          <p:nvPr>
            <p:ph type="title"/>
          </p:nvPr>
        </p:nvSpPr>
        <p:spPr>
          <a:xfrm>
            <a:off x="231775" y="107156"/>
            <a:ext cx="8458200" cy="610791"/>
          </a:xfrm>
        </p:spPr>
        <p:txBody>
          <a:bodyPr/>
          <a:lstStyle/>
          <a:p>
            <a:r>
              <a:rPr lang="en-US" sz="2400" dirty="0" smtClean="0"/>
              <a:t>Activity</a:t>
            </a:r>
            <a:endParaRPr lang="en-US" sz="2400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33459" y="786352"/>
            <a:ext cx="8171912" cy="3709449"/>
          </a:xfrm>
        </p:spPr>
        <p:txBody>
          <a:bodyPr/>
          <a:lstStyle/>
          <a:p>
            <a:endParaRPr lang="en-US" sz="1800" dirty="0" smtClean="0"/>
          </a:p>
          <a:p>
            <a:r>
              <a:rPr lang="en-US" sz="1800" dirty="0" smtClean="0"/>
              <a:t>Main Link:</a:t>
            </a:r>
            <a:r>
              <a:rPr lang="en-US" sz="1600" dirty="0" smtClean="0"/>
              <a:t>    </a:t>
            </a:r>
          </a:p>
          <a:p>
            <a:pPr lvl="1"/>
            <a:r>
              <a:rPr lang="en-US" sz="1400" dirty="0" smtClean="0">
                <a:hlinkClick r:id="rId3"/>
              </a:rPr>
              <a:t>https</a:t>
            </a:r>
            <a:r>
              <a:rPr lang="en-US" sz="1400" dirty="0">
                <a:hlinkClick r:id="rId3"/>
              </a:rPr>
              <a:t>://</a:t>
            </a:r>
            <a:r>
              <a:rPr lang="en-US" sz="1400" dirty="0" smtClean="0">
                <a:hlinkClick r:id="rId3"/>
              </a:rPr>
              <a:t>confluence.itg.ti.com/display/spring/Spring+Web+Development</a:t>
            </a:r>
            <a:r>
              <a:rPr lang="en-US" sz="1400" dirty="0" smtClean="0"/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1332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1: Setting up your 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Netbeans</a:t>
            </a:r>
            <a:endParaRPr lang="en-US" dirty="0" smtClean="0"/>
          </a:p>
          <a:p>
            <a:pPr lvl="1"/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confluence.itg.ti.com/display/spring/NetBeans+IDE+Setup</a:t>
            </a:r>
            <a:endParaRPr lang="en-US" dirty="0" smtClean="0"/>
          </a:p>
          <a:p>
            <a:pPr lvl="1"/>
            <a:endParaRPr lang="en-US" dirty="0"/>
          </a:p>
          <a:p>
            <a:r>
              <a:rPr lang="en-US" dirty="0" smtClean="0"/>
              <a:t>Eclipse/STS</a:t>
            </a:r>
          </a:p>
          <a:p>
            <a:pPr lvl="1"/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confluence.itg.ti.com/display/spring/STS+IDE+Setup</a:t>
            </a:r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0521C-F793-4067-BB07-C7AF74E21EF3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32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 smtClean="0"/>
              <a:t>Activity 2: Creating a new maven project using TI Archetype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new Project using the TI Archetype</a:t>
            </a:r>
          </a:p>
          <a:p>
            <a:r>
              <a:rPr lang="en-US" dirty="0" smtClean="0"/>
              <a:t>Notice the following</a:t>
            </a:r>
          </a:p>
          <a:p>
            <a:pPr lvl="1"/>
            <a:r>
              <a:rPr lang="en-US" dirty="0" smtClean="0"/>
              <a:t>Directory Structure</a:t>
            </a:r>
          </a:p>
          <a:p>
            <a:pPr lvl="1"/>
            <a:r>
              <a:rPr lang="en-US" dirty="0" smtClean="0"/>
              <a:t>Package structures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0521C-F793-4067-BB07-C7AF74E21EF3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66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458" y="786352"/>
            <a:ext cx="4235367" cy="3709449"/>
          </a:xfrm>
        </p:spPr>
        <p:txBody>
          <a:bodyPr/>
          <a:lstStyle/>
          <a:p>
            <a:r>
              <a:rPr lang="en-US" sz="1600" dirty="0"/>
              <a:t>Notice the @Controller annotation for each controller class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These class will be the container of @</a:t>
            </a:r>
            <a:r>
              <a:rPr lang="en-US" sz="1600" dirty="0" err="1"/>
              <a:t>RequestMapping</a:t>
            </a:r>
            <a:r>
              <a:rPr lang="en-US" sz="1600" dirty="0"/>
              <a:t> methods (which intern becomes the entry points for each request from the user</a:t>
            </a:r>
            <a:r>
              <a:rPr lang="en-US" sz="1600" dirty="0" smtClean="0"/>
              <a:t>)</a:t>
            </a:r>
          </a:p>
          <a:p>
            <a:r>
              <a:rPr lang="en-US" sz="1600" dirty="0"/>
              <a:t>Exploring the </a:t>
            </a:r>
          </a:p>
          <a:p>
            <a:r>
              <a:rPr lang="en-US" sz="1600" dirty="0"/>
              <a:t>    @Controller</a:t>
            </a:r>
          </a:p>
          <a:p>
            <a:r>
              <a:rPr lang="en-US" sz="1600" dirty="0"/>
              <a:t>    @</a:t>
            </a:r>
            <a:r>
              <a:rPr lang="en-US" sz="1600" dirty="0" err="1"/>
              <a:t>RequestMapping</a:t>
            </a:r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 smtClean="0"/>
              <a:t>@</a:t>
            </a:r>
            <a:r>
              <a:rPr lang="en-US" sz="1600" smtClean="0"/>
              <a:t>RequestParam</a:t>
            </a:r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 err="1"/>
              <a:t>Request.Get</a:t>
            </a:r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 err="1"/>
              <a:t>Request.Post</a:t>
            </a:r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0521C-F793-4067-BB07-C7AF74E21EF3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687744" y="746053"/>
            <a:ext cx="4235367" cy="37094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0" fontAlgn="base" hangingPunct="0">
              <a:spcBef>
                <a:spcPts val="8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33363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2pPr>
            <a:lvl3pPr marL="854075" indent="-165100" algn="l" rtl="0" eaLnBrk="0" fontAlgn="base" hangingPunct="0">
              <a:spcBef>
                <a:spcPct val="15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1738" indent="-233363" algn="l" rtl="0" eaLnBrk="0" fontAlgn="base" hangingPunct="0">
              <a:spcBef>
                <a:spcPct val="5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1489075" indent="-173038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19462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4034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28606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3178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 smtClean="0"/>
              <a:t>Create a new Controller and Two Request Mappings</a:t>
            </a:r>
          </a:p>
          <a:p>
            <a:r>
              <a:rPr lang="en-US" sz="1600" kern="0" dirty="0" smtClean="0"/>
              <a:t>Map two new views (</a:t>
            </a:r>
            <a:r>
              <a:rPr lang="en-US" sz="1600" kern="0" dirty="0" err="1" smtClean="0"/>
              <a:t>jsp</a:t>
            </a:r>
            <a:r>
              <a:rPr lang="en-US" sz="1600" kern="0" dirty="0" smtClean="0"/>
              <a:t> files) that displays different outputs (surprise the facilitators)</a:t>
            </a:r>
          </a:p>
          <a:p>
            <a:endParaRPr lang="en-US" sz="1600" kern="0" dirty="0"/>
          </a:p>
        </p:txBody>
      </p:sp>
    </p:spTree>
    <p:extLst>
      <p:ext uri="{BB962C8B-B14F-4D97-AF65-F5344CB8AC3E}">
        <p14:creationId xmlns:p14="http://schemas.microsoft.com/office/powerpoint/2010/main" val="125124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458" y="786352"/>
            <a:ext cx="3962771" cy="3709449"/>
          </a:xfrm>
        </p:spPr>
        <p:txBody>
          <a:bodyPr/>
          <a:lstStyle/>
          <a:p>
            <a:r>
              <a:rPr lang="en-US" dirty="0" smtClean="0"/>
              <a:t>Explore the</a:t>
            </a:r>
          </a:p>
          <a:p>
            <a:pPr lvl="1"/>
            <a:r>
              <a:rPr lang="en-US" dirty="0" smtClean="0"/>
              <a:t>@</a:t>
            </a:r>
            <a:r>
              <a:rPr lang="en-US" dirty="0" err="1" smtClean="0"/>
              <a:t>Autowired</a:t>
            </a:r>
            <a:endParaRPr lang="en-US" dirty="0" smtClean="0"/>
          </a:p>
          <a:p>
            <a:pPr lvl="1"/>
            <a:r>
              <a:rPr lang="en-US" dirty="0" smtClean="0"/>
              <a:t>@Service</a:t>
            </a:r>
          </a:p>
          <a:p>
            <a:pPr lvl="1"/>
            <a:r>
              <a:rPr lang="en-US" dirty="0" smtClean="0"/>
              <a:t>Forms</a:t>
            </a:r>
            <a:endParaRPr lang="en-US" dirty="0"/>
          </a:p>
          <a:p>
            <a:r>
              <a:rPr lang="en-US" dirty="0" smtClean="0"/>
              <a:t>@Service classes acts as business logic</a:t>
            </a:r>
          </a:p>
          <a:p>
            <a:r>
              <a:rPr lang="en-US" dirty="0" smtClean="0"/>
              <a:t>@</a:t>
            </a:r>
            <a:r>
              <a:rPr lang="en-US" dirty="0" err="1" smtClean="0"/>
              <a:t>Autowired</a:t>
            </a:r>
            <a:r>
              <a:rPr lang="en-US" dirty="0" smtClean="0"/>
              <a:t> annotation indicates that a particular bean/object will be </a:t>
            </a:r>
            <a:r>
              <a:rPr lang="en-US" i="1" dirty="0" smtClean="0"/>
              <a:t>automatically wired</a:t>
            </a:r>
            <a:r>
              <a:rPr lang="en-US" dirty="0" smtClean="0"/>
              <a:t> into the container bean/object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0521C-F793-4067-BB07-C7AF74E21EF3}" type="slidenum">
              <a:rPr lang="en-US" smtClean="0">
                <a:solidFill>
                  <a:srgbClr val="000000"/>
                </a:solidFill>
              </a:rPr>
              <a:pPr/>
              <a:t>11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90597" y="938751"/>
            <a:ext cx="3962771" cy="37094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0" fontAlgn="base" hangingPunct="0">
              <a:spcBef>
                <a:spcPts val="8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33363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2pPr>
            <a:lvl3pPr marL="854075" indent="-165100" algn="l" rtl="0" eaLnBrk="0" fontAlgn="base" hangingPunct="0">
              <a:spcBef>
                <a:spcPct val="15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1738" indent="-233363" algn="l" rtl="0" eaLnBrk="0" fontAlgn="base" hangingPunct="0">
              <a:spcBef>
                <a:spcPct val="5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1489075" indent="-173038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19462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4034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28606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3178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 smtClean="0"/>
              <a:t>Create a new @Service class and @</a:t>
            </a:r>
            <a:r>
              <a:rPr lang="en-US" kern="0" dirty="0" err="1" smtClean="0"/>
              <a:t>Autowire</a:t>
            </a:r>
            <a:r>
              <a:rPr lang="en-US" kern="0" dirty="0" smtClean="0"/>
              <a:t> it in your custom @Controller.</a:t>
            </a:r>
          </a:p>
          <a:p>
            <a:r>
              <a:rPr lang="en-US" kern="0" dirty="0" smtClean="0"/>
              <a:t>Create a method inside your @Service class that will return the length of an input String.</a:t>
            </a:r>
          </a:p>
          <a:p>
            <a:r>
              <a:rPr lang="en-US" kern="0" dirty="0" smtClean="0"/>
              <a:t>In one of your </a:t>
            </a:r>
            <a:r>
              <a:rPr lang="en-US" kern="0" dirty="0" err="1" smtClean="0"/>
              <a:t>jsp’s</a:t>
            </a:r>
            <a:r>
              <a:rPr lang="en-US" kern="0" dirty="0" smtClean="0"/>
              <a:t> accept an input String that will be submitted as an input</a:t>
            </a:r>
          </a:p>
          <a:p>
            <a:r>
              <a:rPr lang="en-US" kern="0" dirty="0" smtClean="0"/>
              <a:t>Output the length of the String in the next </a:t>
            </a:r>
            <a:r>
              <a:rPr lang="en-US" kern="0" dirty="0" err="1" smtClean="0"/>
              <a:t>jsp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71476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459" y="786352"/>
            <a:ext cx="3324142" cy="3709449"/>
          </a:xfrm>
        </p:spPr>
        <p:txBody>
          <a:bodyPr/>
          <a:lstStyle/>
          <a:p>
            <a:r>
              <a:rPr lang="en-US" dirty="0" smtClean="0"/>
              <a:t>Exploring the:</a:t>
            </a:r>
          </a:p>
          <a:p>
            <a:pPr lvl="1"/>
            <a:r>
              <a:rPr lang="en-US" dirty="0" smtClean="0"/>
              <a:t>Properties file</a:t>
            </a:r>
          </a:p>
          <a:p>
            <a:pPr lvl="1"/>
            <a:r>
              <a:rPr lang="en-US" dirty="0" smtClean="0"/>
              <a:t>@</a:t>
            </a:r>
            <a:r>
              <a:rPr lang="en-US" dirty="0" err="1" smtClean="0"/>
              <a:t>MyBatisRepository</a:t>
            </a:r>
            <a:endParaRPr lang="en-US" dirty="0" smtClean="0"/>
          </a:p>
          <a:p>
            <a:pPr lvl="1"/>
            <a:r>
              <a:rPr lang="en-US" dirty="0" err="1" smtClean="0"/>
              <a:t>MyBatis</a:t>
            </a:r>
            <a:r>
              <a:rPr lang="en-US" dirty="0" smtClean="0"/>
              <a:t> Syntax and </a:t>
            </a:r>
            <a:r>
              <a:rPr lang="en-US" dirty="0" err="1" smtClean="0"/>
              <a:t>sql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0521C-F793-4067-BB07-C7AF74E21EF3}" type="slidenum">
              <a:rPr lang="en-US" smtClean="0">
                <a:solidFill>
                  <a:srgbClr val="000000"/>
                </a:solidFill>
              </a:rPr>
              <a:pPr/>
              <a:t>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68825" y="717025"/>
            <a:ext cx="4023632" cy="37094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0" fontAlgn="base" hangingPunct="0">
              <a:spcBef>
                <a:spcPts val="8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33363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2pPr>
            <a:lvl3pPr marL="854075" indent="-165100" algn="l" rtl="0" eaLnBrk="0" fontAlgn="base" hangingPunct="0">
              <a:spcBef>
                <a:spcPct val="15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1738" indent="-233363" algn="l" rtl="0" eaLnBrk="0" fontAlgn="base" hangingPunct="0">
              <a:spcBef>
                <a:spcPct val="5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1489075" indent="-173038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19462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4034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28606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3178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800" kern="0" dirty="0" smtClean="0"/>
              <a:t>Create a new DAO, in this DAO create the methods</a:t>
            </a:r>
          </a:p>
          <a:p>
            <a:pPr lvl="1"/>
            <a:r>
              <a:rPr lang="en-US" sz="1600" kern="0" dirty="0" smtClean="0"/>
              <a:t>String </a:t>
            </a:r>
            <a:r>
              <a:rPr lang="en-US" sz="1600" kern="0" dirty="0" err="1" smtClean="0"/>
              <a:t>getDummyString</a:t>
            </a:r>
            <a:r>
              <a:rPr lang="en-US" sz="1600" kern="0" dirty="0" smtClean="0"/>
              <a:t>();</a:t>
            </a:r>
          </a:p>
          <a:p>
            <a:pPr lvl="1"/>
            <a:r>
              <a:rPr lang="en-US" sz="1600" kern="0" dirty="0" smtClean="0"/>
              <a:t>Map&lt;String, String&gt; </a:t>
            </a:r>
            <a:r>
              <a:rPr lang="en-US" sz="1600" kern="0" dirty="0" err="1" smtClean="0"/>
              <a:t>getPersonAsMap</a:t>
            </a:r>
            <a:r>
              <a:rPr lang="en-US" sz="1600" kern="0" dirty="0" smtClean="0"/>
              <a:t>(String id)</a:t>
            </a:r>
          </a:p>
          <a:p>
            <a:r>
              <a:rPr lang="en-US" sz="1800" kern="0" dirty="0" smtClean="0"/>
              <a:t>Create a new request mapping to accept the request</a:t>
            </a:r>
          </a:p>
          <a:p>
            <a:r>
              <a:rPr lang="en-US" sz="1800" kern="0" dirty="0" smtClean="0"/>
              <a:t>Create a new </a:t>
            </a:r>
            <a:r>
              <a:rPr lang="en-US" sz="1800" kern="0" dirty="0" err="1" smtClean="0"/>
              <a:t>jsp</a:t>
            </a:r>
            <a:r>
              <a:rPr lang="en-US" sz="1800" kern="0" dirty="0" smtClean="0"/>
              <a:t> to accept input</a:t>
            </a:r>
          </a:p>
          <a:p>
            <a:r>
              <a:rPr lang="en-US" sz="1800" kern="0" dirty="0" smtClean="0"/>
              <a:t>Create a new </a:t>
            </a:r>
            <a:r>
              <a:rPr lang="en-US" sz="1800" kern="0" dirty="0" err="1" smtClean="0"/>
              <a:t>jsp</a:t>
            </a:r>
            <a:r>
              <a:rPr lang="en-US" sz="1800" kern="0" dirty="0" smtClean="0"/>
              <a:t> to Print the output</a:t>
            </a:r>
          </a:p>
          <a:p>
            <a:r>
              <a:rPr lang="en-US" sz="1800" kern="0" dirty="0" err="1" smtClean="0"/>
              <a:t>Autowire</a:t>
            </a:r>
            <a:r>
              <a:rPr lang="en-US" sz="1800" kern="0" dirty="0" smtClean="0"/>
              <a:t> the DAO into your @Service</a:t>
            </a:r>
          </a:p>
        </p:txBody>
      </p:sp>
    </p:spTree>
    <p:extLst>
      <p:ext uri="{BB962C8B-B14F-4D97-AF65-F5344CB8AC3E}">
        <p14:creationId xmlns:p14="http://schemas.microsoft.com/office/powerpoint/2010/main" val="264768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459" y="786352"/>
            <a:ext cx="3324142" cy="3709449"/>
          </a:xfrm>
        </p:spPr>
        <p:txBody>
          <a:bodyPr/>
          <a:lstStyle/>
          <a:p>
            <a:r>
              <a:rPr lang="en-US" dirty="0" smtClean="0"/>
              <a:t>Maximizing Java OOP</a:t>
            </a:r>
          </a:p>
          <a:p>
            <a:r>
              <a:rPr lang="en-US" dirty="0" smtClean="0"/>
              <a:t>Form Binding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0521C-F793-4067-BB07-C7AF74E21EF3}" type="slidenum">
              <a:rPr lang="en-US" smtClean="0">
                <a:solidFill>
                  <a:srgbClr val="000000"/>
                </a:solidFill>
              </a:rPr>
              <a:pPr/>
              <a:t>13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68825" y="717025"/>
            <a:ext cx="4197804" cy="37094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0" fontAlgn="base" hangingPunct="0">
              <a:spcBef>
                <a:spcPts val="8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33363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2pPr>
            <a:lvl3pPr marL="854075" indent="-165100" algn="l" rtl="0" eaLnBrk="0" fontAlgn="base" hangingPunct="0">
              <a:spcBef>
                <a:spcPct val="15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1738" indent="-233363" algn="l" rtl="0" eaLnBrk="0" fontAlgn="base" hangingPunct="0">
              <a:spcBef>
                <a:spcPct val="5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1489075" indent="-173038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19462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4034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28606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3178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 smtClean="0"/>
              <a:t>Create a new POJO named Person</a:t>
            </a:r>
          </a:p>
          <a:p>
            <a:r>
              <a:rPr lang="en-US" kern="0" dirty="0" smtClean="0"/>
              <a:t>Create a new method in the DAO to query one person as </a:t>
            </a:r>
            <a:r>
              <a:rPr lang="en-US" i="1" kern="0" dirty="0" smtClean="0"/>
              <a:t>Person</a:t>
            </a:r>
            <a:endParaRPr lang="en-US" kern="0" dirty="0" smtClean="0"/>
          </a:p>
          <a:p>
            <a:pPr lvl="1"/>
            <a:r>
              <a:rPr lang="en-US" kern="0" dirty="0" smtClean="0"/>
              <a:t>Person </a:t>
            </a:r>
            <a:r>
              <a:rPr lang="en-US" kern="0" dirty="0" err="1" smtClean="0"/>
              <a:t>getPerson</a:t>
            </a:r>
            <a:r>
              <a:rPr lang="en-US" kern="0" dirty="0" smtClean="0"/>
              <a:t>(String id)</a:t>
            </a:r>
          </a:p>
          <a:p>
            <a:pPr lvl="1"/>
            <a:r>
              <a:rPr lang="en-US" kern="0" dirty="0" smtClean="0"/>
              <a:t>Create a new JSP to output the Queried Person object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764969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459" y="786352"/>
            <a:ext cx="3324142" cy="3709449"/>
          </a:xfrm>
        </p:spPr>
        <p:txBody>
          <a:bodyPr/>
          <a:lstStyle/>
          <a:p>
            <a:r>
              <a:rPr lang="en-US" i="1" dirty="0" smtClean="0"/>
              <a:t>Beautify</a:t>
            </a:r>
            <a:r>
              <a:rPr lang="en-US" dirty="0" smtClean="0"/>
              <a:t> your JSP’s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0521C-F793-4067-BB07-C7AF74E21EF3}" type="slidenum">
              <a:rPr lang="en-US" smtClean="0">
                <a:solidFill>
                  <a:srgbClr val="000000"/>
                </a:solidFill>
              </a:rPr>
              <a:pPr/>
              <a:t>14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68825" y="717025"/>
            <a:ext cx="4197804" cy="37094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0" fontAlgn="base" hangingPunct="0">
              <a:spcBef>
                <a:spcPts val="8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33363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2pPr>
            <a:lvl3pPr marL="854075" indent="-165100" algn="l" rtl="0" eaLnBrk="0" fontAlgn="base" hangingPunct="0">
              <a:spcBef>
                <a:spcPct val="15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1738" indent="-233363" algn="l" rtl="0" eaLnBrk="0" fontAlgn="base" hangingPunct="0">
              <a:spcBef>
                <a:spcPct val="5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1489075" indent="-173038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19462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4034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28606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317875" indent="-173038" algn="l" rtl="0" fontAlgn="base">
              <a:spcBef>
                <a:spcPct val="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 smtClean="0"/>
              <a:t>Maximize the usage of </a:t>
            </a:r>
          </a:p>
          <a:p>
            <a:pPr lvl="1"/>
            <a:r>
              <a:rPr lang="en-US" kern="0" dirty="0" err="1" smtClean="0"/>
              <a:t>css</a:t>
            </a:r>
            <a:endParaRPr lang="en-US" kern="0" dirty="0"/>
          </a:p>
          <a:p>
            <a:pPr lvl="1"/>
            <a:r>
              <a:rPr lang="en-US" kern="0" dirty="0" smtClean="0"/>
              <a:t>Tables</a:t>
            </a:r>
          </a:p>
          <a:p>
            <a:pPr lvl="1"/>
            <a:r>
              <a:rPr lang="en-US" kern="0" dirty="0" smtClean="0"/>
              <a:t>Forms</a:t>
            </a:r>
          </a:p>
        </p:txBody>
      </p:sp>
    </p:spTree>
    <p:extLst>
      <p:ext uri="{BB962C8B-B14F-4D97-AF65-F5344CB8AC3E}">
        <p14:creationId xmlns:p14="http://schemas.microsoft.com/office/powerpoint/2010/main" val="262739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5_FinalPowerpoint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EAEAE"/>
      </a:accent2>
      <a:accent3>
        <a:srgbClr val="117788"/>
      </a:accent3>
      <a:accent4>
        <a:srgbClr val="404040"/>
      </a:accent4>
      <a:accent5>
        <a:srgbClr val="7F7F7F"/>
      </a:accent5>
      <a:accent6>
        <a:srgbClr val="32B4CE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6073D85E385342A65563AADCBB9837" ma:contentTypeVersion="4" ma:contentTypeDescription="Create a new document." ma:contentTypeScope="" ma:versionID="7821a9a3b600f00e417bfa8533a2f83b">
  <xsd:schema xmlns:xsd="http://www.w3.org/2001/XMLSchema" xmlns:p="http://schemas.microsoft.com/office/2006/metadata/properties" xmlns:ns1="http://schemas.microsoft.com/sharepoint/v3" xmlns:ns2="d87360b4-385e-4253-a655-63aadcbb9837" targetNamespace="http://schemas.microsoft.com/office/2006/metadata/properties" ma:root="true" ma:fieldsID="83148db6c64e317c89f79c1718a7e62d" ns1:_="" ns2:_="">
    <xsd:import namespace="http://schemas.microsoft.com/sharepoint/v3"/>
    <xsd:import namespace="d87360b4-385e-4253-a655-63aadcbb9837"/>
    <xsd:element name="properties">
      <xsd:complexType>
        <xsd:sequence>
          <xsd:element name="documentManagement">
            <xsd:complexType>
              <xsd:all>
                <xsd:element ref="ns2:MS_x0020_Project_x0020_Files" minOccurs="0"/>
                <xsd:element ref="ns1:_ModerationComments" minOccurs="0"/>
                <xsd:element ref="ns1:File_x0020_Type" minOccurs="0"/>
                <xsd:element ref="ns1:HTML_x0020_File_x0020_Type" minOccurs="0"/>
                <xsd:element ref="ns1:_SourceUrl" minOccurs="0"/>
                <xsd:element ref="ns1:_SharedFileIndex" minOccurs="0"/>
                <xsd:element ref="ns1:ContentTypeId" minOccurs="0"/>
                <xsd:element ref="ns1:TemplateUrl" minOccurs="0"/>
                <xsd:element ref="ns1:xd_ProgID" minOccurs="0"/>
                <xsd:element ref="ns1:xd_Signature" minOccurs="0"/>
                <xsd:element ref="ns1:ID" minOccurs="0"/>
                <xsd:element ref="ns1:Author" minOccurs="0"/>
                <xsd:element ref="ns1:Editor" minOccurs="0"/>
                <xsd:element ref="ns1:_HasCopyDestinations" minOccurs="0"/>
                <xsd:element ref="ns1:_CopySource" minOccurs="0"/>
                <xsd:element ref="ns1:_ModerationStatus" minOccurs="0"/>
                <xsd:element ref="ns1:FileRef" minOccurs="0"/>
                <xsd:element ref="ns1:FileDirRef" minOccurs="0"/>
                <xsd:element ref="ns1:Last_x0020_Modified" minOccurs="0"/>
                <xsd:element ref="ns1:Created_x0020_Date" minOccurs="0"/>
                <xsd:element ref="ns1:File_x0020_Size" minOccurs="0"/>
                <xsd:element ref="ns1:FSObjType" minOccurs="0"/>
                <xsd:element ref="ns1:CheckedOutUserId" minOccurs="0"/>
                <xsd:element ref="ns1:IsCheckedoutToLocal" minOccurs="0"/>
                <xsd:element ref="ns1:CheckoutUser" minOccurs="0"/>
                <xsd:element ref="ns1:UniqueId" minOccurs="0"/>
                <xsd:element ref="ns1:ProgId" minOccurs="0"/>
                <xsd:element ref="ns1:ScopeId" minOccurs="0"/>
                <xsd:element ref="ns1:VirusStatus" minOccurs="0"/>
                <xsd:element ref="ns1:CheckedOutTitle" minOccurs="0"/>
                <xsd:element ref="ns1:_CheckinComment" minOccurs="0"/>
                <xsd:element ref="ns1:MetaInfo" minOccurs="0"/>
                <xsd:element ref="ns1:_Level" minOccurs="0"/>
                <xsd:element ref="ns1:_IsCurrentVersion" minOccurs="0"/>
                <xsd:element ref="ns1:owshiddenversion" minOccurs="0"/>
                <xsd:element ref="ns1:_UIVersion" minOccurs="0"/>
                <xsd:element ref="ns1:_UIVersionString" minOccurs="0"/>
                <xsd:element ref="ns1:InstanceID" minOccurs="0"/>
                <xsd:element ref="ns1:Order" minOccurs="0"/>
                <xsd:element ref="ns1:GUID" minOccurs="0"/>
                <xsd:element ref="ns1:WorkflowVersion" minOccurs="0"/>
                <xsd:element ref="ns1:WorkflowInstanceID" minOccurs="0"/>
                <xsd:element ref="ns1:ParentVersionString" minOccurs="0"/>
                <xsd:element ref="ns1:ParentLeafNam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_ModerationComments" ma:index="4" nillable="true" ma:displayName="Approver Comments" ma:hidden="true" ma:internalName="_ModerationComments" ma:readOnly="true">
      <xsd:simpleType>
        <xsd:restriction base="dms:Note"/>
      </xsd:simpleType>
    </xsd:element>
    <xsd:element name="File_x0020_Type" ma:index="7" nillable="true" ma:displayName="File Type" ma:hidden="true" ma:internalName="File_x0020_Type" ma:readOnly="true">
      <xsd:simpleType>
        <xsd:restriction base="dms:Text"/>
      </xsd:simpleType>
    </xsd:element>
    <xsd:element name="HTML_x0020_File_x0020_Type" ma:index="8" nillable="true" ma:displayName="HTML File Type" ma:hidden="true" ma:internalName="HTML_x0020_File_x0020_Type" ma:readOnly="true">
      <xsd:simpleType>
        <xsd:restriction base="dms:Text"/>
      </xsd:simpleType>
    </xsd:element>
    <xsd:element name="_SourceUrl" ma:index="9" nillable="true" ma:displayName="Source Url" ma:hidden="true" ma:internalName="_SourceUrl">
      <xsd:simpleType>
        <xsd:restriction base="dms:Text"/>
      </xsd:simpleType>
    </xsd:element>
    <xsd:element name="_SharedFileIndex" ma:index="10" nillable="true" ma:displayName="Shared File Index" ma:hidden="true" ma:internalName="_SharedFileIndex">
      <xsd:simpleType>
        <xsd:restriction base="dms:Text"/>
      </xsd:simpleType>
    </xsd:element>
    <xsd:element name="ContentTypeId" ma:index="11" nillable="true" ma:displayName="Content Type ID" ma:hidden="true" ma:internalName="ContentTypeId" ma:readOnly="true">
      <xsd:simpleType>
        <xsd:restriction base="dms:Unknown"/>
      </xsd:simpleType>
    </xsd:element>
    <xsd:element name="TemplateUrl" ma:index="12" nillable="true" ma:displayName="Template Link" ma:hidden="true" ma:internalName="TemplateUrl">
      <xsd:simpleType>
        <xsd:restriction base="dms:Text"/>
      </xsd:simpleType>
    </xsd:element>
    <xsd:element name="xd_ProgID" ma:index="13" nillable="true" ma:displayName="Html File Link" ma:hidden="true" ma:internalName="xd_ProgID">
      <xsd:simpleType>
        <xsd:restriction base="dms:Text"/>
      </xsd:simpleType>
    </xsd:element>
    <xsd:element name="xd_Signature" ma:index="14" nillable="true" ma:displayName="Is Signed" ma:hidden="true" ma:internalName="xd_Signature" ma:readOnly="true">
      <xsd:simpleType>
        <xsd:restriction base="dms:Boolean"/>
      </xsd:simpleType>
    </xsd:element>
    <xsd:element name="ID" ma:index="16" nillable="true" ma:displayName="ID" ma:internalName="ID" ma:readOnly="true">
      <xsd:simpleType>
        <xsd:restriction base="dms:Unknown"/>
      </xsd:simpleType>
    </xsd:element>
    <xsd:element name="Author" ma:index="18" nillable="true" ma:displayName="Created By" ma:list="UserInfo" ma:internalName="Author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" ma:index="20" nillable="true" ma:displayName="Modified By" ma:list="UserInfo" ma:internalName="Editor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HasCopyDestinations" ma:index="21" nillable="true" ma:displayName="Has Copy Destinations" ma:hidden="true" ma:internalName="_HasCopyDestinations" ma:readOnly="true">
      <xsd:simpleType>
        <xsd:restriction base="dms:Boolean"/>
      </xsd:simpleType>
    </xsd:element>
    <xsd:element name="_CopySource" ma:index="22" nillable="true" ma:displayName="Copy Source" ma:internalName="_CopySource" ma:readOnly="true">
      <xsd:simpleType>
        <xsd:restriction base="dms:Text"/>
      </xsd:simpleType>
    </xsd:element>
    <xsd:element name="_ModerationStatus" ma:index="23" nillable="true" ma:displayName="Approval Status" ma:default="0" ma:hidden="true" ma:internalName="_ModerationStatus" ma:readOnly="true">
      <xsd:simpleType>
        <xsd:restriction base="dms:Unknown"/>
      </xsd:simpleType>
    </xsd:element>
    <xsd:element name="FileRef" ma:index="24" nillable="true" ma:displayName="URL Path" ma:hidden="true" ma:list="Docs" ma:internalName="FileRef" ma:readOnly="true" ma:showField="FullUrl">
      <xsd:simpleType>
        <xsd:restriction base="dms:Lookup"/>
      </xsd:simpleType>
    </xsd:element>
    <xsd:element name="FileDirRef" ma:index="25" nillable="true" ma:displayName="Path" ma:hidden="true" ma:list="Docs" ma:internalName="FileDirRef" ma:readOnly="true" ma:showField="DirName">
      <xsd:simpleType>
        <xsd:restriction base="dms:Lookup"/>
      </xsd:simpleType>
    </xsd:element>
    <xsd:element name="Last_x0020_Modified" ma:index="26" nillable="true" ma:displayName="Modified" ma:format="TRUE" ma:hidden="true" ma:list="Docs" ma:internalName="Last_x0020_Modified" ma:readOnly="true" ma:showField="TimeLastModified">
      <xsd:simpleType>
        <xsd:restriction base="dms:Lookup"/>
      </xsd:simpleType>
    </xsd:element>
    <xsd:element name="Created_x0020_Date" ma:index="27" nillable="true" ma:displayName="Created" ma:format="TRUE" ma:hidden="true" ma:list="Docs" ma:internalName="Created_x0020_Date" ma:readOnly="true" ma:showField="TimeCreated">
      <xsd:simpleType>
        <xsd:restriction base="dms:Lookup"/>
      </xsd:simpleType>
    </xsd:element>
    <xsd:element name="File_x0020_Size" ma:index="28" nillable="true" ma:displayName="File Size" ma:format="TRUE" ma:hidden="true" ma:list="Docs" ma:internalName="File_x0020_Size" ma:readOnly="true" ma:showField="SizeInKB">
      <xsd:simpleType>
        <xsd:restriction base="dms:Lookup"/>
      </xsd:simpleType>
    </xsd:element>
    <xsd:element name="FSObjType" ma:index="29" nillable="true" ma:displayName="Item Type" ma:hidden="true" ma:list="Docs" ma:internalName="FSObjType" ma:readOnly="true" ma:showField="FSType">
      <xsd:simpleType>
        <xsd:restriction base="dms:Lookup"/>
      </xsd:simpleType>
    </xsd:element>
    <xsd:element name="CheckedOutUserId" ma:index="31" nillable="true" ma:displayName="ID of the User who has the item Checked Out" ma:hidden="true" ma:list="Docs" ma:internalName="CheckedOutUserId" ma:readOnly="true" ma:showField="CheckoutUserId">
      <xsd:simpleType>
        <xsd:restriction base="dms:Lookup"/>
      </xsd:simpleType>
    </xsd:element>
    <xsd:element name="IsCheckedoutToLocal" ma:index="32" nillable="true" ma:displayName="Is Checked out to local" ma:hidden="true" ma:list="Docs" ma:internalName="IsCheckedoutToLocal" ma:readOnly="true" ma:showField="IsCheckoutToLocal">
      <xsd:simpleType>
        <xsd:restriction base="dms:Lookup"/>
      </xsd:simpleType>
    </xsd:element>
    <xsd:element name="CheckoutUser" ma:index="33" nillable="true" ma:displayName="Checked Out To" ma:list="UserInfo" ma:internalName="CheckoutUser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UniqueId" ma:index="34" nillable="true" ma:displayName="Unique Id" ma:hidden="true" ma:list="Docs" ma:internalName="UniqueId" ma:readOnly="true" ma:showField="UniqueId">
      <xsd:simpleType>
        <xsd:restriction base="dms:Lookup"/>
      </xsd:simpleType>
    </xsd:element>
    <xsd:element name="ProgId" ma:index="35" nillable="true" ma:displayName="ProgId" ma:hidden="true" ma:list="Docs" ma:internalName="ProgId" ma:readOnly="true" ma:showField="ProgId">
      <xsd:simpleType>
        <xsd:restriction base="dms:Lookup"/>
      </xsd:simpleType>
    </xsd:element>
    <xsd:element name="ScopeId" ma:index="36" nillable="true" ma:displayName="ScopeId" ma:hidden="true" ma:list="Docs" ma:internalName="ScopeId" ma:readOnly="true" ma:showField="ScopeId">
      <xsd:simpleType>
        <xsd:restriction base="dms:Lookup"/>
      </xsd:simpleType>
    </xsd:element>
    <xsd:element name="VirusStatus" ma:index="37" nillable="true" ma:displayName="Virus Status" ma:format="TRUE" ma:hidden="true" ma:list="Docs" ma:internalName="VirusStatus" ma:readOnly="true" ma:showField="Size">
      <xsd:simpleType>
        <xsd:restriction base="dms:Lookup"/>
      </xsd:simpleType>
    </xsd:element>
    <xsd:element name="CheckedOutTitle" ma:index="38" nillable="true" ma:displayName="Checked Out To" ma:format="TRUE" ma:hidden="true" ma:list="Docs" ma:internalName="CheckedOutTitle" ma:readOnly="true" ma:showField="CheckedOutTitle">
      <xsd:simpleType>
        <xsd:restriction base="dms:Lookup"/>
      </xsd:simpleType>
    </xsd:element>
    <xsd:element name="_CheckinComment" ma:index="39" nillable="true" ma:displayName="Check In Comment" ma:format="TRUE" ma:list="Docs" ma:internalName="_CheckinComment" ma:readOnly="true" ma:showField="CheckinComment">
      <xsd:simpleType>
        <xsd:restriction base="dms:Lookup"/>
      </xsd:simpleType>
    </xsd:element>
    <xsd:element name="MetaInfo" ma:index="50" nillable="true" ma:displayName="Property Bag" ma:hidden="true" ma:list="Docs" ma:internalName="MetaInfo" ma:showField="MetaInfo">
      <xsd:simpleType>
        <xsd:restriction base="dms:Lookup"/>
      </xsd:simpleType>
    </xsd:element>
    <xsd:element name="_Level" ma:index="51" nillable="true" ma:displayName="Level" ma:hidden="true" ma:internalName="_Level" ma:readOnly="true">
      <xsd:simpleType>
        <xsd:restriction base="dms:Unknown"/>
      </xsd:simpleType>
    </xsd:element>
    <xsd:element name="_IsCurrentVersion" ma:index="52" nillable="true" ma:displayName="Is Current Version" ma:hidden="true" ma:internalName="_IsCurrentVersion" ma:readOnly="true">
      <xsd:simpleType>
        <xsd:restriction base="dms:Boolean"/>
      </xsd:simpleType>
    </xsd:element>
    <xsd:element name="owshiddenversion" ma:index="56" nillable="true" ma:displayName="owshiddenversion" ma:hidden="true" ma:internalName="owshiddenversion" ma:readOnly="true">
      <xsd:simpleType>
        <xsd:restriction base="dms:Unknown"/>
      </xsd:simpleType>
    </xsd:element>
    <xsd:element name="_UIVersion" ma:index="57" nillable="true" ma:displayName="UI Version" ma:hidden="true" ma:internalName="_UIVersion" ma:readOnly="true">
      <xsd:simpleType>
        <xsd:restriction base="dms:Unknown"/>
      </xsd:simpleType>
    </xsd:element>
    <xsd:element name="_UIVersionString" ma:index="58" nillable="true" ma:displayName="Version" ma:internalName="_UIVersionString" ma:readOnly="true">
      <xsd:simpleType>
        <xsd:restriction base="dms:Text"/>
      </xsd:simpleType>
    </xsd:element>
    <xsd:element name="InstanceID" ma:index="59" nillable="true" ma:displayName="Instance ID" ma:hidden="true" ma:internalName="InstanceID" ma:readOnly="true">
      <xsd:simpleType>
        <xsd:restriction base="dms:Unknown"/>
      </xsd:simpleType>
    </xsd:element>
    <xsd:element name="Order" ma:index="60" nillable="true" ma:displayName="Order" ma:hidden="true" ma:internalName="Order">
      <xsd:simpleType>
        <xsd:restriction base="dms:Number"/>
      </xsd:simpleType>
    </xsd:element>
    <xsd:element name="GUID" ma:index="61" nillable="true" ma:displayName="GUID" ma:hidden="true" ma:internalName="GUID" ma:readOnly="true">
      <xsd:simpleType>
        <xsd:restriction base="dms:Unknown"/>
      </xsd:simpleType>
    </xsd:element>
    <xsd:element name="WorkflowVersion" ma:index="62" nillable="true" ma:displayName="Workflow Version" ma:hidden="true" ma:internalName="WorkflowVersion" ma:readOnly="true">
      <xsd:simpleType>
        <xsd:restriction base="dms:Unknown"/>
      </xsd:simpleType>
    </xsd:element>
    <xsd:element name="WorkflowInstanceID" ma:index="63" nillable="true" ma:displayName="Workflow Instance ID" ma:hidden="true" ma:internalName="WorkflowInstanceID" ma:readOnly="true">
      <xsd:simpleType>
        <xsd:restriction base="dms:Unknown"/>
      </xsd:simpleType>
    </xsd:element>
    <xsd:element name="ParentVersionString" ma:index="64" nillable="true" ma:displayName="Source Version (Converted Document)" ma:hidden="true" ma:list="Docs" ma:internalName="ParentVersionString" ma:readOnly="true" ma:showField="ParentVersionString">
      <xsd:simpleType>
        <xsd:restriction base="dms:Lookup"/>
      </xsd:simpleType>
    </xsd:element>
    <xsd:element name="ParentLeafName" ma:index="65" nillable="true" ma:displayName="Source Name (Converted Document)" ma:hidden="true" ma:list="Docs" ma:internalName="ParentLeafName" ma:readOnly="true" ma:showField="ParentLeafName">
      <xsd:simpleType>
        <xsd:restriction base="dms:Lookup"/>
      </xsd:simpleType>
    </xsd:element>
  </xsd:schema>
  <xsd:schema xmlns:xsd="http://www.w3.org/2001/XMLSchema" xmlns:dms="http://schemas.microsoft.com/office/2006/documentManagement/types" targetNamespace="d87360b4-385e-4253-a655-63aadcbb9837" elementFormDefault="qualified">
    <xsd:import namespace="http://schemas.microsoft.com/office/2006/documentManagement/types"/>
    <xsd:element name="MS_x0020_Project_x0020_Files" ma:index="1" nillable="true" ma:displayName="MS Project Files" ma:format="Hyperlink" ma:internalName="MS_x0020_Project_x0020_File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5" ma:displayName="Content Type"/>
        <xsd:element ref="dc:title" minOccurs="0" maxOccurs="1" ma:index="2" ma:displayName="Title"/>
        <xsd:element ref="dc:subject" minOccurs="0" maxOccurs="1"/>
        <xsd:element ref="dc:description" minOccurs="0" maxOccurs="1" ma:index="3" ma:displayName="Comments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MS_x0020_Project_x0020_Files xmlns="d87360b4-385e-4253-a655-63aadcbb9837">
      <Url xsi:nil="true"/>
      <Description xsi:nil="true"/>
    </MS_x0020_Project_x0020_Files>
    <_SourceUrl xmlns="http://schemas.microsoft.com/sharepoint/v3" xsi:nil="true"/>
    <xd_ProgID xmlns="http://schemas.microsoft.com/sharepoint/v3" xsi:nil="true"/>
    <Order xmlns="http://schemas.microsoft.com/sharepoint/v3" xsi:nil="true"/>
    <_SharedFileIndex xmlns="http://schemas.microsoft.com/sharepoint/v3" xsi:nil="true"/>
    <MetaInfo xmlns="http://schemas.microsoft.com/sharepoint/v3" xsi:nil="true"/>
    <ContentTypeId xmlns="http://schemas.microsoft.com/sharepoint/v3">0x010100B46073D85E385342A65563AADCBB9837</ContentTypeId>
  </documentManagement>
</p:properties>
</file>

<file path=customXml/itemProps1.xml><?xml version="1.0" encoding="utf-8"?>
<ds:datastoreItem xmlns:ds="http://schemas.openxmlformats.org/officeDocument/2006/customXml" ds:itemID="{AF6CFC19-2AAD-49AE-9554-B8E30222FC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87360b4-385e-4253-a655-63aadcbb9837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C7929054-3DFE-47F2-BD50-F64A38C2D4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F63FC2-0AD5-47E9-94AB-5389093BFE5B}">
  <ds:schemaRefs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www.w3.org/XML/1998/namespace"/>
    <ds:schemaRef ds:uri="d87360b4-385e-4253-a655-63aadcbb9837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7554</TotalTime>
  <Words>504</Words>
  <Application>Microsoft Office PowerPoint</Application>
  <PresentationFormat>On-screen Show (16:9)</PresentationFormat>
  <Paragraphs>205</Paragraphs>
  <Slides>14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5_FinalPowerpoint</vt:lpstr>
      <vt:lpstr>Spring Framework</vt:lpstr>
      <vt:lpstr>Topics</vt:lpstr>
      <vt:lpstr>What is the Spring Framework</vt:lpstr>
      <vt:lpstr>The Spring Architecture</vt:lpstr>
      <vt:lpstr>Inversion of Control thru Dependency Injection</vt:lpstr>
      <vt:lpstr>PowerPoint Presentation</vt:lpstr>
      <vt:lpstr>Activity</vt:lpstr>
      <vt:lpstr>Activity 1: Setting up your IDE</vt:lpstr>
      <vt:lpstr>Activity 2: Creating a new maven project using TI Archetype</vt:lpstr>
      <vt:lpstr>Activity 3</vt:lpstr>
      <vt:lpstr>Activity 4</vt:lpstr>
      <vt:lpstr>Activity 5</vt:lpstr>
      <vt:lpstr>Activity 6</vt:lpstr>
      <vt:lpstr>Activity 7</vt:lpstr>
    </vt:vector>
  </TitlesOfParts>
  <Company>Texas Instruments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 Forum: Spring</dc:title>
  <dc:creator>r-tumbaga1@ti.com</dc:creator>
  <cp:lastModifiedBy>Windows User</cp:lastModifiedBy>
  <cp:revision>843</cp:revision>
  <cp:lastPrinted>2016-08-25T23:28:30Z</cp:lastPrinted>
  <dcterms:created xsi:type="dcterms:W3CDTF">2007-12-19T20:51:45Z</dcterms:created>
  <dcterms:modified xsi:type="dcterms:W3CDTF">2017-06-14T02:52:55Z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0x0101005272E952649209458A02B372AEC6BC20</vt:lpwstr>
  </property>
  <property fmtid="{D5CDD505-2E9C-101B-9397-08002B2CF9AE}" pid="3" name="Topic">
    <vt:lpwstr>LOE / Project Estimation</vt:lpwstr>
  </property>
  <property fmtid="{D5CDD505-2E9C-101B-9397-08002B2CF9AE}" pid="4" name="Link">
    <vt:lpwstr/>
  </property>
</Properties>
</file>